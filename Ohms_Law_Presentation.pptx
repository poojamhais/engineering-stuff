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0E1A"/>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06D6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0" y="548640"/>
            <a:ext cx="12191695" cy="457200"/>
          </a:xfrm>
          <a:prstGeom prst="rect">
            <a:avLst/>
          </a:prstGeom>
          <a:noFill/>
        </p:spPr>
        <p:txBody>
          <a:bodyPr wrap="square">
            <a:spAutoFit/>
          </a:bodyPr>
          <a:lstStyle/>
          <a:p>
            <a:pPr algn="ctr">
              <a:defRPr sz="1600" b="1">
                <a:solidFill>
                  <a:srgbClr val="06D6A0"/>
                </a:solidFill>
                <a:latin typeface="Calibri"/>
              </a:defRPr>
            </a:pPr>
            <a:r>
              <a:t>MATOSHRI EDUCATION SOCIETY'S</a:t>
            </a:r>
          </a:p>
        </p:txBody>
      </p:sp>
      <p:sp>
        <p:nvSpPr>
          <p:cNvPr id="4" name="TextBox 3"/>
          <p:cNvSpPr txBox="1"/>
          <p:nvPr/>
        </p:nvSpPr>
        <p:spPr>
          <a:xfrm>
            <a:off x="0" y="914400"/>
            <a:ext cx="12191695" cy="457200"/>
          </a:xfrm>
          <a:prstGeom prst="rect">
            <a:avLst/>
          </a:prstGeom>
          <a:noFill/>
        </p:spPr>
        <p:txBody>
          <a:bodyPr wrap="square">
            <a:spAutoFit/>
          </a:bodyPr>
          <a:lstStyle/>
          <a:p>
            <a:pPr algn="ctr">
              <a:defRPr sz="2000" b="1">
                <a:solidFill>
                  <a:srgbClr val="06D6A0"/>
                </a:solidFill>
                <a:latin typeface="Calibri"/>
              </a:defRPr>
            </a:pPr>
            <a:r>
              <a:t>MIT POLYTECHNIC &amp; ENGINEERING, YEOLA</a:t>
            </a:r>
          </a:p>
        </p:txBody>
      </p:sp>
      <p:sp>
        <p:nvSpPr>
          <p:cNvPr id="5" name="TextBox 4"/>
          <p:cNvSpPr txBox="1"/>
          <p:nvPr/>
        </p:nvSpPr>
        <p:spPr>
          <a:xfrm>
            <a:off x="0" y="1325880"/>
            <a:ext cx="12191695" cy="365760"/>
          </a:xfrm>
          <a:prstGeom prst="rect">
            <a:avLst/>
          </a:prstGeom>
          <a:noFill/>
        </p:spPr>
        <p:txBody>
          <a:bodyPr wrap="square">
            <a:spAutoFit/>
          </a:bodyPr>
          <a:lstStyle/>
          <a:p>
            <a:pPr algn="ctr">
              <a:defRPr sz="1400" b="0">
                <a:solidFill>
                  <a:srgbClr val="94A3B8"/>
                </a:solidFill>
                <a:latin typeface="Calibri"/>
              </a:defRPr>
            </a:pPr>
            <a:r>
              <a:t>Department of Electronics and Telecommunication Engineering</a:t>
            </a:r>
          </a:p>
        </p:txBody>
      </p:sp>
      <p:sp>
        <p:nvSpPr>
          <p:cNvPr id="6" name="TextBox 5"/>
          <p:cNvSpPr txBox="1"/>
          <p:nvPr/>
        </p:nvSpPr>
        <p:spPr>
          <a:xfrm>
            <a:off x="0" y="2011680"/>
            <a:ext cx="12191695" cy="1097280"/>
          </a:xfrm>
          <a:prstGeom prst="rect">
            <a:avLst/>
          </a:prstGeom>
          <a:noFill/>
        </p:spPr>
        <p:txBody>
          <a:bodyPr wrap="square">
            <a:spAutoFit/>
          </a:bodyPr>
          <a:lstStyle/>
          <a:p>
            <a:pPr algn="ctr">
              <a:defRPr sz="7200" b="1">
                <a:solidFill>
                  <a:srgbClr val="FFD166"/>
                </a:solidFill>
                <a:latin typeface="Calibri"/>
              </a:defRPr>
            </a:pPr>
            <a:r>
              <a:t>OHM'S LAW</a:t>
            </a:r>
          </a:p>
        </p:txBody>
      </p:sp>
      <p:sp>
        <p:nvSpPr>
          <p:cNvPr id="7" name="Rounded Rectangle 6"/>
          <p:cNvSpPr/>
          <p:nvPr/>
        </p:nvSpPr>
        <p:spPr>
          <a:xfrm>
            <a:off x="4114800" y="3200400"/>
            <a:ext cx="3962095" cy="822960"/>
          </a:xfrm>
          <a:prstGeom prst="roundRect">
            <a:avLst/>
          </a:prstGeom>
          <a:solidFill>
            <a:srgbClr val="161E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14800" y="3246120"/>
            <a:ext cx="3962095" cy="731520"/>
          </a:xfrm>
          <a:prstGeom prst="rect">
            <a:avLst/>
          </a:prstGeom>
          <a:noFill/>
        </p:spPr>
        <p:txBody>
          <a:bodyPr wrap="square">
            <a:spAutoFit/>
          </a:bodyPr>
          <a:lstStyle/>
          <a:p>
            <a:pPr algn="ctr">
              <a:defRPr sz="4000" b="1">
                <a:solidFill>
                  <a:srgbClr val="FFD166"/>
                </a:solidFill>
                <a:latin typeface="Calibri"/>
              </a:defRPr>
            </a:pPr>
            <a:r>
              <a:t>V = I × R</a:t>
            </a:r>
          </a:p>
        </p:txBody>
      </p:sp>
      <p:sp>
        <p:nvSpPr>
          <p:cNvPr id="9" name="Rounded Rectangle 8"/>
          <p:cNvSpPr/>
          <p:nvPr/>
        </p:nvSpPr>
        <p:spPr>
          <a:xfrm>
            <a:off x="2011680" y="4389120"/>
            <a:ext cx="2560320" cy="822960"/>
          </a:xfrm>
          <a:prstGeom prst="roundRect">
            <a:avLst/>
          </a:prstGeom>
          <a:solidFill>
            <a:srgbClr val="161E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11680" y="4434840"/>
            <a:ext cx="2560320" cy="411480"/>
          </a:xfrm>
          <a:prstGeom prst="rect">
            <a:avLst/>
          </a:prstGeom>
          <a:noFill/>
        </p:spPr>
        <p:txBody>
          <a:bodyPr wrap="square">
            <a:spAutoFit/>
          </a:bodyPr>
          <a:lstStyle/>
          <a:p>
            <a:pPr algn="ctr">
              <a:defRPr sz="1400" b="1">
                <a:solidFill>
                  <a:srgbClr val="F0F4F8"/>
                </a:solidFill>
                <a:latin typeface="Calibri"/>
              </a:defRPr>
            </a:pPr>
            <a:r>
              <a:t>Pooja Santosh Mhais</a:t>
            </a:r>
          </a:p>
        </p:txBody>
      </p:sp>
      <p:sp>
        <p:nvSpPr>
          <p:cNvPr id="11" name="TextBox 10"/>
          <p:cNvSpPr txBox="1"/>
          <p:nvPr/>
        </p:nvSpPr>
        <p:spPr>
          <a:xfrm>
            <a:off x="2011680" y="4800600"/>
            <a:ext cx="2560320" cy="320040"/>
          </a:xfrm>
          <a:prstGeom prst="rect">
            <a:avLst/>
          </a:prstGeom>
          <a:noFill/>
        </p:spPr>
        <p:txBody>
          <a:bodyPr wrap="square">
            <a:spAutoFit/>
          </a:bodyPr>
          <a:lstStyle/>
          <a:p>
            <a:pPr algn="ctr">
              <a:defRPr sz="1100" b="0">
                <a:solidFill>
                  <a:srgbClr val="94A3B8"/>
                </a:solidFill>
                <a:latin typeface="Calibri"/>
              </a:defRPr>
            </a:pPr>
            <a:r>
              <a:t>Roll No. 1</a:t>
            </a:r>
          </a:p>
        </p:txBody>
      </p:sp>
      <p:sp>
        <p:nvSpPr>
          <p:cNvPr id="12" name="Rounded Rectangle 11"/>
          <p:cNvSpPr/>
          <p:nvPr/>
        </p:nvSpPr>
        <p:spPr>
          <a:xfrm>
            <a:off x="4937760" y="4389120"/>
            <a:ext cx="2560320" cy="822960"/>
          </a:xfrm>
          <a:prstGeom prst="roundRect">
            <a:avLst/>
          </a:prstGeom>
          <a:solidFill>
            <a:srgbClr val="161E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37760" y="4434840"/>
            <a:ext cx="2560320" cy="411480"/>
          </a:xfrm>
          <a:prstGeom prst="rect">
            <a:avLst/>
          </a:prstGeom>
          <a:noFill/>
        </p:spPr>
        <p:txBody>
          <a:bodyPr wrap="square">
            <a:spAutoFit/>
          </a:bodyPr>
          <a:lstStyle/>
          <a:p>
            <a:pPr algn="ctr">
              <a:defRPr sz="1400" b="1">
                <a:solidFill>
                  <a:srgbClr val="F0F4F8"/>
                </a:solidFill>
                <a:latin typeface="Calibri"/>
              </a:defRPr>
            </a:pPr>
            <a:r>
              <a:t>Rutuja Ramesh Gaikwad</a:t>
            </a:r>
          </a:p>
        </p:txBody>
      </p:sp>
      <p:sp>
        <p:nvSpPr>
          <p:cNvPr id="14" name="TextBox 13"/>
          <p:cNvSpPr txBox="1"/>
          <p:nvPr/>
        </p:nvSpPr>
        <p:spPr>
          <a:xfrm>
            <a:off x="4937760" y="4800600"/>
            <a:ext cx="2560320" cy="320040"/>
          </a:xfrm>
          <a:prstGeom prst="rect">
            <a:avLst/>
          </a:prstGeom>
          <a:noFill/>
        </p:spPr>
        <p:txBody>
          <a:bodyPr wrap="square">
            <a:spAutoFit/>
          </a:bodyPr>
          <a:lstStyle/>
          <a:p>
            <a:pPr algn="ctr">
              <a:defRPr sz="1100" b="0">
                <a:solidFill>
                  <a:srgbClr val="94A3B8"/>
                </a:solidFill>
                <a:latin typeface="Calibri"/>
              </a:defRPr>
            </a:pPr>
            <a:r>
              <a:t>Roll No. 2</a:t>
            </a:r>
          </a:p>
        </p:txBody>
      </p:sp>
      <p:sp>
        <p:nvSpPr>
          <p:cNvPr id="15" name="Rounded Rectangle 14"/>
          <p:cNvSpPr/>
          <p:nvPr/>
        </p:nvSpPr>
        <p:spPr>
          <a:xfrm>
            <a:off x="7863840" y="4389120"/>
            <a:ext cx="2560320" cy="822960"/>
          </a:xfrm>
          <a:prstGeom prst="roundRect">
            <a:avLst/>
          </a:prstGeom>
          <a:solidFill>
            <a:srgbClr val="161E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863840" y="4434840"/>
            <a:ext cx="2560320" cy="411480"/>
          </a:xfrm>
          <a:prstGeom prst="rect">
            <a:avLst/>
          </a:prstGeom>
          <a:noFill/>
        </p:spPr>
        <p:txBody>
          <a:bodyPr wrap="square">
            <a:spAutoFit/>
          </a:bodyPr>
          <a:lstStyle/>
          <a:p>
            <a:pPr algn="ctr">
              <a:defRPr sz="1400" b="1">
                <a:solidFill>
                  <a:srgbClr val="F0F4F8"/>
                </a:solidFill>
                <a:latin typeface="Calibri"/>
              </a:defRPr>
            </a:pPr>
            <a:r>
              <a:t>Shubham Madhukar Gaikwad</a:t>
            </a:r>
          </a:p>
        </p:txBody>
      </p:sp>
      <p:sp>
        <p:nvSpPr>
          <p:cNvPr id="17" name="TextBox 16"/>
          <p:cNvSpPr txBox="1"/>
          <p:nvPr/>
        </p:nvSpPr>
        <p:spPr>
          <a:xfrm>
            <a:off x="7863840" y="4800600"/>
            <a:ext cx="2560320" cy="320040"/>
          </a:xfrm>
          <a:prstGeom prst="rect">
            <a:avLst/>
          </a:prstGeom>
          <a:noFill/>
        </p:spPr>
        <p:txBody>
          <a:bodyPr wrap="square">
            <a:spAutoFit/>
          </a:bodyPr>
          <a:lstStyle/>
          <a:p>
            <a:pPr algn="ctr">
              <a:defRPr sz="1100" b="0">
                <a:solidFill>
                  <a:srgbClr val="94A3B8"/>
                </a:solidFill>
                <a:latin typeface="Calibri"/>
              </a:defRPr>
            </a:pPr>
            <a:r>
              <a:t>Roll No. 3</a:t>
            </a:r>
          </a:p>
        </p:txBody>
      </p:sp>
      <p:sp>
        <p:nvSpPr>
          <p:cNvPr id="18" name="TextBox 17"/>
          <p:cNvSpPr txBox="1"/>
          <p:nvPr/>
        </p:nvSpPr>
        <p:spPr>
          <a:xfrm>
            <a:off x="0" y="5486400"/>
            <a:ext cx="12191695" cy="365760"/>
          </a:xfrm>
          <a:prstGeom prst="rect">
            <a:avLst/>
          </a:prstGeom>
          <a:noFill/>
        </p:spPr>
        <p:txBody>
          <a:bodyPr wrap="square">
            <a:spAutoFit/>
          </a:bodyPr>
          <a:lstStyle/>
          <a:p>
            <a:pPr algn="ctr">
              <a:defRPr sz="1300" b="0">
                <a:solidFill>
                  <a:srgbClr val="94A3B8"/>
                </a:solidFill>
                <a:latin typeface="Calibri"/>
              </a:defRPr>
            </a:pPr>
            <a:r>
              <a:t>Under the Guidance of Miss. Beldar G.N.</a:t>
            </a:r>
          </a:p>
        </p:txBody>
      </p:sp>
      <p:sp>
        <p:nvSpPr>
          <p:cNvPr id="19" name="TextBox 18"/>
          <p:cNvSpPr txBox="1"/>
          <p:nvPr/>
        </p:nvSpPr>
        <p:spPr>
          <a:xfrm>
            <a:off x="0" y="5852160"/>
            <a:ext cx="12191695" cy="365760"/>
          </a:xfrm>
          <a:prstGeom prst="rect">
            <a:avLst/>
          </a:prstGeom>
          <a:noFill/>
        </p:spPr>
        <p:txBody>
          <a:bodyPr wrap="square">
            <a:spAutoFit/>
          </a:bodyPr>
          <a:lstStyle/>
          <a:p>
            <a:pPr algn="ctr">
              <a:defRPr sz="1200" b="0">
                <a:solidFill>
                  <a:srgbClr val="94A3B8"/>
                </a:solidFill>
                <a:latin typeface="Calibri"/>
              </a:defRPr>
            </a:pPr>
            <a:r>
              <a:t>Academic Year: 2025-2026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0E1A"/>
        </a:solidFill>
        <a:effectLst/>
      </p:bgPr>
    </p:bg>
    <p:spTree>
      <p:nvGrpSpPr>
        <p:cNvPr id="1" name=""/>
        <p:cNvGrpSpPr/>
        <p:nvPr/>
      </p:nvGrpSpPr>
      <p:grpSpPr/>
      <p:sp>
        <p:nvSpPr>
          <p:cNvPr id="2" name="TextBox 1"/>
          <p:cNvSpPr txBox="1"/>
          <p:nvPr/>
        </p:nvSpPr>
        <p:spPr>
          <a:xfrm>
            <a:off x="731520" y="365760"/>
            <a:ext cx="6400800" cy="640080"/>
          </a:xfrm>
          <a:prstGeom prst="rect">
            <a:avLst/>
          </a:prstGeom>
          <a:noFill/>
        </p:spPr>
        <p:txBody>
          <a:bodyPr wrap="square">
            <a:spAutoFit/>
          </a:bodyPr>
          <a:lstStyle/>
          <a:p>
            <a:pPr algn="l">
              <a:defRPr sz="3600" b="1">
                <a:solidFill>
                  <a:srgbClr val="06D6A0"/>
                </a:solidFill>
                <a:latin typeface="Calibri"/>
              </a:defRPr>
            </a:pPr>
            <a:r>
              <a:t>What is Ohm's Law?</a:t>
            </a:r>
          </a:p>
        </p:txBody>
      </p:sp>
      <p:sp>
        <p:nvSpPr>
          <p:cNvPr id="3" name="TextBox 2"/>
          <p:cNvSpPr txBox="1"/>
          <p:nvPr/>
        </p:nvSpPr>
        <p:spPr>
          <a:xfrm>
            <a:off x="731520" y="1097280"/>
            <a:ext cx="5943600" cy="2286000"/>
          </a:xfrm>
          <a:prstGeom prst="rect">
            <a:avLst/>
          </a:prstGeom>
          <a:noFill/>
        </p:spPr>
        <p:txBody>
          <a:bodyPr wrap="square">
            <a:spAutoFit/>
          </a:bodyPr>
          <a:lstStyle/>
          <a:p>
            <a:pPr>
              <a:spcAft>
                <a:spcPts val="1200"/>
              </a:spcAft>
              <a:defRPr sz="1600">
                <a:solidFill>
                  <a:srgbClr val="94A3B8"/>
                </a:solidFill>
                <a:latin typeface="Calibri"/>
              </a:defRPr>
            </a:pPr>
            <a:r>
              <a:t>Ohm's Law is the most fundamental relationship in electronics and telecommunication engineering. Discovered by Georg Simon Ohm in 1827, it describes how voltage, current, and resistance are interrelated in an electrical circuit.</a:t>
            </a:r>
          </a:p>
          <a:p>
            <a:pPr algn="l">
              <a:spcAft>
                <a:spcPts val="1600"/>
              </a:spcAft>
              <a:defRPr sz="3200" b="1">
                <a:solidFill>
                  <a:srgbClr val="FFD166"/>
                </a:solidFill>
                <a:latin typeface="Calibri"/>
              </a:defRPr>
            </a:pPr>
            <a:r>
              <a:t>V = I × R</a:t>
            </a:r>
          </a:p>
        </p:txBody>
      </p:sp>
      <p:sp>
        <p:nvSpPr>
          <p:cNvPr id="4" name="Rounded Rectangle 3"/>
          <p:cNvSpPr/>
          <p:nvPr/>
        </p:nvSpPr>
        <p:spPr>
          <a:xfrm>
            <a:off x="731520" y="3291840"/>
            <a:ext cx="5943600" cy="914400"/>
          </a:xfrm>
          <a:prstGeom prst="roundRect">
            <a:avLst/>
          </a:prstGeom>
          <a:solidFill>
            <a:srgbClr val="161E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3364992"/>
            <a:ext cx="5486400" cy="320040"/>
          </a:xfrm>
          <a:prstGeom prst="rect">
            <a:avLst/>
          </a:prstGeom>
          <a:noFill/>
        </p:spPr>
        <p:txBody>
          <a:bodyPr wrap="square">
            <a:spAutoFit/>
          </a:bodyPr>
          <a:lstStyle/>
          <a:p>
            <a:pPr algn="l">
              <a:defRPr sz="1600" b="1">
                <a:solidFill>
                  <a:srgbClr val="06D6A0"/>
                </a:solidFill>
                <a:latin typeface="Calibri"/>
              </a:defRPr>
            </a:pPr>
            <a:r>
              <a:t>⚡ Voltage (V)</a:t>
            </a:r>
          </a:p>
        </p:txBody>
      </p:sp>
      <p:sp>
        <p:nvSpPr>
          <p:cNvPr id="6" name="TextBox 5"/>
          <p:cNvSpPr txBox="1"/>
          <p:nvPr/>
        </p:nvSpPr>
        <p:spPr>
          <a:xfrm>
            <a:off x="914400" y="3703320"/>
            <a:ext cx="5486400" cy="457200"/>
          </a:xfrm>
          <a:prstGeom prst="rect">
            <a:avLst/>
          </a:prstGeom>
          <a:noFill/>
        </p:spPr>
        <p:txBody>
          <a:bodyPr wrap="square">
            <a:spAutoFit/>
          </a:bodyPr>
          <a:lstStyle/>
          <a:p>
            <a:pPr algn="l">
              <a:defRPr sz="1200" b="0">
                <a:solidFill>
                  <a:srgbClr val="94A3B8"/>
                </a:solidFill>
                <a:latin typeface="Calibri"/>
              </a:defRPr>
            </a:pPr>
            <a:r>
              <a:t>The electrical pressure that pushes electrons through a conductor. Measured in Volts (V).</a:t>
            </a:r>
          </a:p>
        </p:txBody>
      </p:sp>
      <p:sp>
        <p:nvSpPr>
          <p:cNvPr id="7" name="Rounded Rectangle 6"/>
          <p:cNvSpPr/>
          <p:nvPr/>
        </p:nvSpPr>
        <p:spPr>
          <a:xfrm>
            <a:off x="731520" y="4343400"/>
            <a:ext cx="5943600" cy="914400"/>
          </a:xfrm>
          <a:prstGeom prst="roundRect">
            <a:avLst/>
          </a:prstGeom>
          <a:solidFill>
            <a:srgbClr val="161E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4416552"/>
            <a:ext cx="5486400" cy="320040"/>
          </a:xfrm>
          <a:prstGeom prst="rect">
            <a:avLst/>
          </a:prstGeom>
          <a:noFill/>
        </p:spPr>
        <p:txBody>
          <a:bodyPr wrap="square">
            <a:spAutoFit/>
          </a:bodyPr>
          <a:lstStyle/>
          <a:p>
            <a:pPr algn="l">
              <a:defRPr sz="1600" b="1">
                <a:solidFill>
                  <a:srgbClr val="06D6A0"/>
                </a:solidFill>
                <a:latin typeface="Calibri"/>
              </a:defRPr>
            </a:pPr>
            <a:r>
              <a:t>🌊 Current (I)</a:t>
            </a:r>
          </a:p>
        </p:txBody>
      </p:sp>
      <p:sp>
        <p:nvSpPr>
          <p:cNvPr id="9" name="TextBox 8"/>
          <p:cNvSpPr txBox="1"/>
          <p:nvPr/>
        </p:nvSpPr>
        <p:spPr>
          <a:xfrm>
            <a:off x="914400" y="4754880"/>
            <a:ext cx="5486400" cy="457200"/>
          </a:xfrm>
          <a:prstGeom prst="rect">
            <a:avLst/>
          </a:prstGeom>
          <a:noFill/>
        </p:spPr>
        <p:txBody>
          <a:bodyPr wrap="square">
            <a:spAutoFit/>
          </a:bodyPr>
          <a:lstStyle/>
          <a:p>
            <a:pPr algn="l">
              <a:defRPr sz="1200" b="0">
                <a:solidFill>
                  <a:srgbClr val="94A3B8"/>
                </a:solidFill>
                <a:latin typeface="Calibri"/>
              </a:defRPr>
            </a:pPr>
            <a:r>
              <a:t>The rate of flow of electric charge through a conductor. Measured in Amperes (A).</a:t>
            </a:r>
          </a:p>
        </p:txBody>
      </p:sp>
      <p:sp>
        <p:nvSpPr>
          <p:cNvPr id="10" name="Rounded Rectangle 9"/>
          <p:cNvSpPr/>
          <p:nvPr/>
        </p:nvSpPr>
        <p:spPr>
          <a:xfrm>
            <a:off x="731520" y="5394960"/>
            <a:ext cx="5943600" cy="914400"/>
          </a:xfrm>
          <a:prstGeom prst="roundRect">
            <a:avLst/>
          </a:prstGeom>
          <a:solidFill>
            <a:srgbClr val="161E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5468112"/>
            <a:ext cx="5486400" cy="320040"/>
          </a:xfrm>
          <a:prstGeom prst="rect">
            <a:avLst/>
          </a:prstGeom>
          <a:noFill/>
        </p:spPr>
        <p:txBody>
          <a:bodyPr wrap="square">
            <a:spAutoFit/>
          </a:bodyPr>
          <a:lstStyle/>
          <a:p>
            <a:pPr algn="l">
              <a:defRPr sz="1600" b="1">
                <a:solidFill>
                  <a:srgbClr val="06D6A0"/>
                </a:solidFill>
                <a:latin typeface="Calibri"/>
              </a:defRPr>
            </a:pPr>
            <a:r>
              <a:t>🔥 Resistance (R)</a:t>
            </a:r>
          </a:p>
        </p:txBody>
      </p:sp>
      <p:sp>
        <p:nvSpPr>
          <p:cNvPr id="12" name="TextBox 11"/>
          <p:cNvSpPr txBox="1"/>
          <p:nvPr/>
        </p:nvSpPr>
        <p:spPr>
          <a:xfrm>
            <a:off x="914400" y="5806440"/>
            <a:ext cx="5486400" cy="457200"/>
          </a:xfrm>
          <a:prstGeom prst="rect">
            <a:avLst/>
          </a:prstGeom>
          <a:noFill/>
        </p:spPr>
        <p:txBody>
          <a:bodyPr wrap="square">
            <a:spAutoFit/>
          </a:bodyPr>
          <a:lstStyle/>
          <a:p>
            <a:pPr algn="l">
              <a:defRPr sz="1200" b="0">
                <a:solidFill>
                  <a:srgbClr val="94A3B8"/>
                </a:solidFill>
                <a:latin typeface="Calibri"/>
              </a:defRPr>
            </a:pPr>
            <a:r>
              <a:t>The opposition to the flow of current in a circuit. Measured in Ohms (Ω).</a:t>
            </a:r>
          </a:p>
        </p:txBody>
      </p:sp>
      <p:pic>
        <p:nvPicPr>
          <p:cNvPr id="13" name="Picture 12" descr="georg_ohm.png"/>
          <p:cNvPicPr>
            <a:picLocks noChangeAspect="1"/>
          </p:cNvPicPr>
          <p:nvPr/>
        </p:nvPicPr>
        <p:blipFill>
          <a:blip r:embed="rId2"/>
          <a:stretch>
            <a:fillRect/>
          </a:stretch>
        </p:blipFill>
        <p:spPr>
          <a:xfrm>
            <a:off x="7498079" y="731520"/>
            <a:ext cx="4114800" cy="41148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0E1A"/>
        </a:solidFill>
        <a:effectLst/>
      </p:bgPr>
    </p:bg>
    <p:spTree>
      <p:nvGrpSpPr>
        <p:cNvPr id="1" name=""/>
        <p:cNvGrpSpPr/>
        <p:nvPr/>
      </p:nvGrpSpPr>
      <p:grpSpPr/>
      <p:sp>
        <p:nvSpPr>
          <p:cNvPr id="2" name="TextBox 1"/>
          <p:cNvSpPr txBox="1"/>
          <p:nvPr/>
        </p:nvSpPr>
        <p:spPr>
          <a:xfrm>
            <a:off x="731520" y="365760"/>
            <a:ext cx="6400800" cy="640080"/>
          </a:xfrm>
          <a:prstGeom prst="rect">
            <a:avLst/>
          </a:prstGeom>
          <a:noFill/>
        </p:spPr>
        <p:txBody>
          <a:bodyPr wrap="square">
            <a:spAutoFit/>
          </a:bodyPr>
          <a:lstStyle/>
          <a:p>
            <a:pPr algn="l">
              <a:defRPr sz="3600" b="1">
                <a:solidFill>
                  <a:srgbClr val="06D6A0"/>
                </a:solidFill>
                <a:latin typeface="Calibri"/>
              </a:defRPr>
            </a:pPr>
            <a:r>
              <a:t>The Basic Circuit</a:t>
            </a:r>
          </a:p>
        </p:txBody>
      </p:sp>
      <p:sp>
        <p:nvSpPr>
          <p:cNvPr id="3" name="TextBox 2"/>
          <p:cNvSpPr txBox="1"/>
          <p:nvPr/>
        </p:nvSpPr>
        <p:spPr>
          <a:xfrm>
            <a:off x="731520" y="1188720"/>
            <a:ext cx="5943600" cy="1371600"/>
          </a:xfrm>
          <a:prstGeom prst="rect">
            <a:avLst/>
          </a:prstGeom>
          <a:noFill/>
        </p:spPr>
        <p:txBody>
          <a:bodyPr wrap="square">
            <a:spAutoFit/>
          </a:bodyPr>
          <a:lstStyle/>
          <a:p>
            <a:pPr>
              <a:defRPr sz="1500">
                <a:solidFill>
                  <a:srgbClr val="94A3B8"/>
                </a:solidFill>
                <a:latin typeface="Calibri"/>
              </a:defRPr>
            </a:pPr>
            <a:r>
              <a:t>A simple circuit consists of a voltage source (battery), a load (resistor), and connecting wires. Current flows from the positive terminal through the circuit and back to the negative terminal.</a:t>
            </a:r>
          </a:p>
        </p:txBody>
      </p:sp>
      <p:sp>
        <p:nvSpPr>
          <p:cNvPr id="4" name="Rounded Rectangle 3"/>
          <p:cNvSpPr/>
          <p:nvPr/>
        </p:nvSpPr>
        <p:spPr>
          <a:xfrm>
            <a:off x="731520" y="2743200"/>
            <a:ext cx="5943600" cy="914400"/>
          </a:xfrm>
          <a:prstGeom prst="roundRect">
            <a:avLst/>
          </a:prstGeom>
          <a:solidFill>
            <a:srgbClr val="161E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816352"/>
            <a:ext cx="5486400" cy="320040"/>
          </a:xfrm>
          <a:prstGeom prst="rect">
            <a:avLst/>
          </a:prstGeom>
          <a:noFill/>
        </p:spPr>
        <p:txBody>
          <a:bodyPr wrap="square">
            <a:spAutoFit/>
          </a:bodyPr>
          <a:lstStyle/>
          <a:p>
            <a:pPr algn="l">
              <a:defRPr sz="1600" b="1">
                <a:solidFill>
                  <a:srgbClr val="FFD166"/>
                </a:solidFill>
                <a:latin typeface="Calibri"/>
              </a:defRPr>
            </a:pPr>
            <a:r>
              <a:t>🔋 Voltage Source</a:t>
            </a:r>
          </a:p>
        </p:txBody>
      </p:sp>
      <p:sp>
        <p:nvSpPr>
          <p:cNvPr id="6" name="TextBox 5"/>
          <p:cNvSpPr txBox="1"/>
          <p:nvPr/>
        </p:nvSpPr>
        <p:spPr>
          <a:xfrm>
            <a:off x="914400" y="3154680"/>
            <a:ext cx="5486400" cy="457200"/>
          </a:xfrm>
          <a:prstGeom prst="rect">
            <a:avLst/>
          </a:prstGeom>
          <a:noFill/>
        </p:spPr>
        <p:txBody>
          <a:bodyPr wrap="square">
            <a:spAutoFit/>
          </a:bodyPr>
          <a:lstStyle/>
          <a:p>
            <a:pPr algn="l">
              <a:defRPr sz="1200" b="0">
                <a:solidFill>
                  <a:srgbClr val="94A3B8"/>
                </a:solidFill>
                <a:latin typeface="Calibri"/>
              </a:defRPr>
            </a:pPr>
            <a:r>
              <a:t>Provides the electromotive force (EMF) to drive current through the circuit.</a:t>
            </a:r>
          </a:p>
        </p:txBody>
      </p:sp>
      <p:sp>
        <p:nvSpPr>
          <p:cNvPr id="7" name="Rounded Rectangle 6"/>
          <p:cNvSpPr/>
          <p:nvPr/>
        </p:nvSpPr>
        <p:spPr>
          <a:xfrm>
            <a:off x="731520" y="3794760"/>
            <a:ext cx="5943600" cy="914400"/>
          </a:xfrm>
          <a:prstGeom prst="roundRect">
            <a:avLst/>
          </a:prstGeom>
          <a:solidFill>
            <a:srgbClr val="161E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3867912"/>
            <a:ext cx="5486400" cy="320040"/>
          </a:xfrm>
          <a:prstGeom prst="rect">
            <a:avLst/>
          </a:prstGeom>
          <a:noFill/>
        </p:spPr>
        <p:txBody>
          <a:bodyPr wrap="square">
            <a:spAutoFit/>
          </a:bodyPr>
          <a:lstStyle/>
          <a:p>
            <a:pPr algn="l">
              <a:defRPr sz="1600" b="1">
                <a:solidFill>
                  <a:srgbClr val="FFD166"/>
                </a:solidFill>
                <a:latin typeface="Calibri"/>
              </a:defRPr>
            </a:pPr>
            <a:r>
              <a:t>📐 Resistor</a:t>
            </a:r>
          </a:p>
        </p:txBody>
      </p:sp>
      <p:sp>
        <p:nvSpPr>
          <p:cNvPr id="9" name="TextBox 8"/>
          <p:cNvSpPr txBox="1"/>
          <p:nvPr/>
        </p:nvSpPr>
        <p:spPr>
          <a:xfrm>
            <a:off x="914400" y="4206240"/>
            <a:ext cx="5486400" cy="457200"/>
          </a:xfrm>
          <a:prstGeom prst="rect">
            <a:avLst/>
          </a:prstGeom>
          <a:noFill/>
        </p:spPr>
        <p:txBody>
          <a:bodyPr wrap="square">
            <a:spAutoFit/>
          </a:bodyPr>
          <a:lstStyle/>
          <a:p>
            <a:pPr algn="l">
              <a:defRPr sz="1200" b="0">
                <a:solidFill>
                  <a:srgbClr val="94A3B8"/>
                </a:solidFill>
                <a:latin typeface="Calibri"/>
              </a:defRPr>
            </a:pPr>
            <a:r>
              <a:t>Opposes current flow. Color bands indicate its resistance value in Ohms.</a:t>
            </a:r>
          </a:p>
        </p:txBody>
      </p:sp>
      <p:sp>
        <p:nvSpPr>
          <p:cNvPr id="10" name="Rounded Rectangle 9"/>
          <p:cNvSpPr/>
          <p:nvPr/>
        </p:nvSpPr>
        <p:spPr>
          <a:xfrm>
            <a:off x="731520" y="4846320"/>
            <a:ext cx="5943600" cy="731520"/>
          </a:xfrm>
          <a:prstGeom prst="roundRect">
            <a:avLst/>
          </a:prstGeom>
          <a:solidFill>
            <a:srgbClr val="161E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4892040"/>
            <a:ext cx="5669280" cy="640080"/>
          </a:xfrm>
          <a:prstGeom prst="rect">
            <a:avLst/>
          </a:prstGeom>
          <a:noFill/>
        </p:spPr>
        <p:txBody>
          <a:bodyPr wrap="square">
            <a:spAutoFit/>
          </a:bodyPr>
          <a:lstStyle/>
          <a:p>
            <a:pPr algn="l">
              <a:defRPr sz="1300" b="0">
                <a:solidFill>
                  <a:srgbClr val="06D6A0"/>
                </a:solidFill>
                <a:latin typeface="Calibri"/>
              </a:defRPr>
            </a:pPr>
            <a:r>
              <a:t>Key Insight: If you increase the voltage while keeping resistance constant, the current increases proportionally.</a:t>
            </a:r>
          </a:p>
        </p:txBody>
      </p:sp>
      <p:pic>
        <p:nvPicPr>
          <p:cNvPr id="12" name="Picture 11" descr="circuit_diagram.png"/>
          <p:cNvPicPr>
            <a:picLocks noChangeAspect="1"/>
          </p:cNvPicPr>
          <p:nvPr/>
        </p:nvPicPr>
        <p:blipFill>
          <a:blip r:embed="rId2"/>
          <a:stretch>
            <a:fillRect/>
          </a:stretch>
        </p:blipFill>
        <p:spPr>
          <a:xfrm>
            <a:off x="7498079" y="731520"/>
            <a:ext cx="4114800" cy="41148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0E1A"/>
        </a:solidFill>
        <a:effectLst/>
      </p:bgPr>
    </p:bg>
    <p:spTree>
      <p:nvGrpSpPr>
        <p:cNvPr id="1" name=""/>
        <p:cNvGrpSpPr/>
        <p:nvPr/>
      </p:nvGrpSpPr>
      <p:grpSpPr/>
      <p:sp>
        <p:nvSpPr>
          <p:cNvPr id="2" name="TextBox 1"/>
          <p:cNvSpPr txBox="1"/>
          <p:nvPr/>
        </p:nvSpPr>
        <p:spPr>
          <a:xfrm>
            <a:off x="731520" y="365760"/>
            <a:ext cx="6400800" cy="640080"/>
          </a:xfrm>
          <a:prstGeom prst="rect">
            <a:avLst/>
          </a:prstGeom>
          <a:noFill/>
        </p:spPr>
        <p:txBody>
          <a:bodyPr wrap="square">
            <a:spAutoFit/>
          </a:bodyPr>
          <a:lstStyle/>
          <a:p>
            <a:pPr algn="l">
              <a:defRPr sz="3600" b="1">
                <a:solidFill>
                  <a:srgbClr val="06D6A0"/>
                </a:solidFill>
                <a:latin typeface="Calibri"/>
              </a:defRPr>
            </a:pPr>
            <a:r>
              <a:t>The Water Analogy</a:t>
            </a:r>
          </a:p>
        </p:txBody>
      </p:sp>
      <p:sp>
        <p:nvSpPr>
          <p:cNvPr id="3" name="TextBox 2"/>
          <p:cNvSpPr txBox="1"/>
          <p:nvPr/>
        </p:nvSpPr>
        <p:spPr>
          <a:xfrm>
            <a:off x="731520" y="1097280"/>
            <a:ext cx="5943600" cy="914400"/>
          </a:xfrm>
          <a:prstGeom prst="rect">
            <a:avLst/>
          </a:prstGeom>
          <a:noFill/>
        </p:spPr>
        <p:txBody>
          <a:bodyPr wrap="square">
            <a:spAutoFit/>
          </a:bodyPr>
          <a:lstStyle/>
          <a:p>
            <a:pPr>
              <a:defRPr sz="1500">
                <a:solidFill>
                  <a:srgbClr val="94A3B8"/>
                </a:solidFill>
                <a:latin typeface="Calibri"/>
              </a:defRPr>
            </a:pPr>
            <a:r>
              <a:t>The easiest way to understand Ohm's Law is by comparing electricity to water flowing through pipes.</a:t>
            </a:r>
          </a:p>
        </p:txBody>
      </p:sp>
      <p:sp>
        <p:nvSpPr>
          <p:cNvPr id="4" name="Rounded Rectangle 3"/>
          <p:cNvSpPr/>
          <p:nvPr/>
        </p:nvSpPr>
        <p:spPr>
          <a:xfrm>
            <a:off x="731520" y="2194560"/>
            <a:ext cx="5943600" cy="1005840"/>
          </a:xfrm>
          <a:prstGeom prst="roundRect">
            <a:avLst/>
          </a:prstGeom>
          <a:solidFill>
            <a:srgbClr val="161E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267712"/>
            <a:ext cx="5486400" cy="320040"/>
          </a:xfrm>
          <a:prstGeom prst="rect">
            <a:avLst/>
          </a:prstGeom>
          <a:noFill/>
        </p:spPr>
        <p:txBody>
          <a:bodyPr wrap="square">
            <a:spAutoFit/>
          </a:bodyPr>
          <a:lstStyle/>
          <a:p>
            <a:pPr algn="l">
              <a:defRPr sz="1600" b="1">
                <a:solidFill>
                  <a:srgbClr val="FFD166"/>
                </a:solidFill>
                <a:latin typeface="Calibri"/>
              </a:defRPr>
            </a:pPr>
            <a:r>
              <a:t>Voltage = Water Pressure</a:t>
            </a:r>
          </a:p>
        </p:txBody>
      </p:sp>
      <p:sp>
        <p:nvSpPr>
          <p:cNvPr id="6" name="TextBox 5"/>
          <p:cNvSpPr txBox="1"/>
          <p:nvPr/>
        </p:nvSpPr>
        <p:spPr>
          <a:xfrm>
            <a:off x="914400" y="2633472"/>
            <a:ext cx="5486400" cy="502920"/>
          </a:xfrm>
          <a:prstGeom prst="rect">
            <a:avLst/>
          </a:prstGeom>
          <a:noFill/>
        </p:spPr>
        <p:txBody>
          <a:bodyPr wrap="square">
            <a:spAutoFit/>
          </a:bodyPr>
          <a:lstStyle/>
          <a:p>
            <a:pPr algn="l">
              <a:defRPr sz="1200" b="0">
                <a:solidFill>
                  <a:srgbClr val="94A3B8"/>
                </a:solidFill>
                <a:latin typeface="Calibri"/>
              </a:defRPr>
            </a:pPr>
            <a:r>
              <a:t>Like water pressure pushing water through a pipe, voltage pushes electrons through a wire.</a:t>
            </a:r>
          </a:p>
        </p:txBody>
      </p:sp>
      <p:sp>
        <p:nvSpPr>
          <p:cNvPr id="7" name="Rounded Rectangle 6"/>
          <p:cNvSpPr/>
          <p:nvPr/>
        </p:nvSpPr>
        <p:spPr>
          <a:xfrm>
            <a:off x="731520" y="3383280"/>
            <a:ext cx="5943600" cy="1005840"/>
          </a:xfrm>
          <a:prstGeom prst="roundRect">
            <a:avLst/>
          </a:prstGeom>
          <a:solidFill>
            <a:srgbClr val="161E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3456432"/>
            <a:ext cx="5486400" cy="320040"/>
          </a:xfrm>
          <a:prstGeom prst="rect">
            <a:avLst/>
          </a:prstGeom>
          <a:noFill/>
        </p:spPr>
        <p:txBody>
          <a:bodyPr wrap="square">
            <a:spAutoFit/>
          </a:bodyPr>
          <a:lstStyle/>
          <a:p>
            <a:pPr algn="l">
              <a:defRPr sz="1600" b="1">
                <a:solidFill>
                  <a:srgbClr val="06D6A0"/>
                </a:solidFill>
                <a:latin typeface="Calibri"/>
              </a:defRPr>
            </a:pPr>
            <a:r>
              <a:t>Current = Water Flow Rate</a:t>
            </a:r>
          </a:p>
        </p:txBody>
      </p:sp>
      <p:sp>
        <p:nvSpPr>
          <p:cNvPr id="9" name="TextBox 8"/>
          <p:cNvSpPr txBox="1"/>
          <p:nvPr/>
        </p:nvSpPr>
        <p:spPr>
          <a:xfrm>
            <a:off x="914400" y="3822192"/>
            <a:ext cx="5486400" cy="502920"/>
          </a:xfrm>
          <a:prstGeom prst="rect">
            <a:avLst/>
          </a:prstGeom>
          <a:noFill/>
        </p:spPr>
        <p:txBody>
          <a:bodyPr wrap="square">
            <a:spAutoFit/>
          </a:bodyPr>
          <a:lstStyle/>
          <a:p>
            <a:pPr algn="l">
              <a:defRPr sz="1200" b="0">
                <a:solidFill>
                  <a:srgbClr val="94A3B8"/>
                </a:solidFill>
                <a:latin typeface="Calibri"/>
              </a:defRPr>
            </a:pPr>
            <a:r>
              <a:t>The amount of water flowing per second is like current — the amount of charge flowing per second.</a:t>
            </a:r>
          </a:p>
        </p:txBody>
      </p:sp>
      <p:sp>
        <p:nvSpPr>
          <p:cNvPr id="10" name="Rounded Rectangle 9"/>
          <p:cNvSpPr/>
          <p:nvPr/>
        </p:nvSpPr>
        <p:spPr>
          <a:xfrm>
            <a:off x="731520" y="4572000"/>
            <a:ext cx="5943600" cy="1005840"/>
          </a:xfrm>
          <a:prstGeom prst="roundRect">
            <a:avLst/>
          </a:prstGeom>
          <a:solidFill>
            <a:srgbClr val="161E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4645152"/>
            <a:ext cx="5486400" cy="320040"/>
          </a:xfrm>
          <a:prstGeom prst="rect">
            <a:avLst/>
          </a:prstGeom>
          <a:noFill/>
        </p:spPr>
        <p:txBody>
          <a:bodyPr wrap="square">
            <a:spAutoFit/>
          </a:bodyPr>
          <a:lstStyle/>
          <a:p>
            <a:pPr algn="l">
              <a:defRPr sz="1600" b="1">
                <a:solidFill>
                  <a:srgbClr val="EF476F"/>
                </a:solidFill>
                <a:latin typeface="Calibri"/>
              </a:defRPr>
            </a:pPr>
            <a:r>
              <a:t>Resistance = Pipe Width</a:t>
            </a:r>
          </a:p>
        </p:txBody>
      </p:sp>
      <p:sp>
        <p:nvSpPr>
          <p:cNvPr id="12" name="TextBox 11"/>
          <p:cNvSpPr txBox="1"/>
          <p:nvPr/>
        </p:nvSpPr>
        <p:spPr>
          <a:xfrm>
            <a:off x="914400" y="5010912"/>
            <a:ext cx="5486400" cy="502920"/>
          </a:xfrm>
          <a:prstGeom prst="rect">
            <a:avLst/>
          </a:prstGeom>
          <a:noFill/>
        </p:spPr>
        <p:txBody>
          <a:bodyPr wrap="square">
            <a:spAutoFit/>
          </a:bodyPr>
          <a:lstStyle/>
          <a:p>
            <a:pPr algn="l">
              <a:defRPr sz="1200" b="0">
                <a:solidFill>
                  <a:srgbClr val="94A3B8"/>
                </a:solidFill>
                <a:latin typeface="Calibri"/>
              </a:defRPr>
            </a:pPr>
            <a:r>
              <a:t>A narrow pipe restricts water flow, just as high resistance restricts electric current.</a:t>
            </a:r>
          </a:p>
        </p:txBody>
      </p:sp>
      <p:pic>
        <p:nvPicPr>
          <p:cNvPr id="13" name="Picture 12" descr="water_analogy.png"/>
          <p:cNvPicPr>
            <a:picLocks noChangeAspect="1"/>
          </p:cNvPicPr>
          <p:nvPr/>
        </p:nvPicPr>
        <p:blipFill>
          <a:blip r:embed="rId2"/>
          <a:stretch>
            <a:fillRect/>
          </a:stretch>
        </p:blipFill>
        <p:spPr>
          <a:xfrm>
            <a:off x="7498079" y="731520"/>
            <a:ext cx="4114800" cy="41148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0E1A"/>
        </a:solidFill>
        <a:effectLst/>
      </p:bgPr>
    </p:bg>
    <p:spTree>
      <p:nvGrpSpPr>
        <p:cNvPr id="1" name=""/>
        <p:cNvGrpSpPr/>
        <p:nvPr/>
      </p:nvGrpSpPr>
      <p:grpSpPr/>
      <p:sp>
        <p:nvSpPr>
          <p:cNvPr id="2" name="TextBox 1"/>
          <p:cNvSpPr txBox="1"/>
          <p:nvPr/>
        </p:nvSpPr>
        <p:spPr>
          <a:xfrm>
            <a:off x="0" y="274320"/>
            <a:ext cx="12191695" cy="640080"/>
          </a:xfrm>
          <a:prstGeom prst="rect">
            <a:avLst/>
          </a:prstGeom>
          <a:noFill/>
        </p:spPr>
        <p:txBody>
          <a:bodyPr wrap="square">
            <a:spAutoFit/>
          </a:bodyPr>
          <a:lstStyle/>
          <a:p>
            <a:pPr algn="ctr">
              <a:defRPr sz="3600" b="1">
                <a:solidFill>
                  <a:srgbClr val="06D6A0"/>
                </a:solidFill>
                <a:latin typeface="Calibri"/>
              </a:defRPr>
            </a:pPr>
            <a:r>
              <a:t>The Ohm's Law Triangle</a:t>
            </a:r>
          </a:p>
        </p:txBody>
      </p:sp>
      <p:sp>
        <p:nvSpPr>
          <p:cNvPr id="3" name="TextBox 2"/>
          <p:cNvSpPr txBox="1"/>
          <p:nvPr/>
        </p:nvSpPr>
        <p:spPr>
          <a:xfrm>
            <a:off x="0" y="914400"/>
            <a:ext cx="12191695" cy="457200"/>
          </a:xfrm>
          <a:prstGeom prst="rect">
            <a:avLst/>
          </a:prstGeom>
          <a:noFill/>
        </p:spPr>
        <p:txBody>
          <a:bodyPr wrap="square">
            <a:spAutoFit/>
          </a:bodyPr>
          <a:lstStyle/>
          <a:p>
            <a:pPr algn="ctr">
              <a:defRPr sz="1600" b="0">
                <a:solidFill>
                  <a:srgbClr val="94A3B8"/>
                </a:solidFill>
                <a:latin typeface="Calibri"/>
              </a:defRPr>
            </a:pPr>
            <a:r>
              <a:t>Cover the variable you want to find — the remaining arrangement shows the formula!</a:t>
            </a:r>
          </a:p>
        </p:txBody>
      </p:sp>
      <p:sp>
        <p:nvSpPr>
          <p:cNvPr id="4" name="Isosceles Triangle 3"/>
          <p:cNvSpPr/>
          <p:nvPr/>
        </p:nvSpPr>
        <p:spPr>
          <a:xfrm>
            <a:off x="4114800" y="1645920"/>
            <a:ext cx="3931920" cy="3200400"/>
          </a:xfrm>
          <a:prstGeom prst="triangle">
            <a:avLst/>
          </a:prstGeom>
          <a:noFill/>
          <a:ln w="25400">
            <a:solidFill>
              <a:srgbClr val="06D6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0" y="2286000"/>
            <a:ext cx="1097280" cy="731520"/>
          </a:xfrm>
          <a:prstGeom prst="rect">
            <a:avLst/>
          </a:prstGeom>
          <a:noFill/>
        </p:spPr>
        <p:txBody>
          <a:bodyPr wrap="square">
            <a:spAutoFit/>
          </a:bodyPr>
          <a:lstStyle/>
          <a:p>
            <a:pPr algn="ctr">
              <a:defRPr sz="4800" b="1">
                <a:solidFill>
                  <a:srgbClr val="FFD166"/>
                </a:solidFill>
                <a:latin typeface="Calibri"/>
              </a:defRPr>
            </a:pPr>
            <a:r>
              <a:t>V</a:t>
            </a:r>
          </a:p>
        </p:txBody>
      </p:sp>
      <p:sp>
        <p:nvSpPr>
          <p:cNvPr id="6" name="TextBox 5"/>
          <p:cNvSpPr txBox="1"/>
          <p:nvPr/>
        </p:nvSpPr>
        <p:spPr>
          <a:xfrm>
            <a:off x="4389120" y="3840480"/>
            <a:ext cx="1097280" cy="731520"/>
          </a:xfrm>
          <a:prstGeom prst="rect">
            <a:avLst/>
          </a:prstGeom>
          <a:noFill/>
        </p:spPr>
        <p:txBody>
          <a:bodyPr wrap="square">
            <a:spAutoFit/>
          </a:bodyPr>
          <a:lstStyle/>
          <a:p>
            <a:pPr algn="ctr">
              <a:defRPr sz="4800" b="1">
                <a:solidFill>
                  <a:srgbClr val="06D6A0"/>
                </a:solidFill>
                <a:latin typeface="Calibri"/>
              </a:defRPr>
            </a:pPr>
            <a:r>
              <a:t>I</a:t>
            </a:r>
          </a:p>
        </p:txBody>
      </p:sp>
      <p:sp>
        <p:nvSpPr>
          <p:cNvPr id="7" name="TextBox 6"/>
          <p:cNvSpPr txBox="1"/>
          <p:nvPr/>
        </p:nvSpPr>
        <p:spPr>
          <a:xfrm>
            <a:off x="5577840" y="3840480"/>
            <a:ext cx="1097280" cy="731520"/>
          </a:xfrm>
          <a:prstGeom prst="rect">
            <a:avLst/>
          </a:prstGeom>
          <a:noFill/>
        </p:spPr>
        <p:txBody>
          <a:bodyPr wrap="square">
            <a:spAutoFit/>
          </a:bodyPr>
          <a:lstStyle/>
          <a:p>
            <a:pPr algn="ctr">
              <a:defRPr sz="3600" b="1">
                <a:solidFill>
                  <a:srgbClr val="94A3B8"/>
                </a:solidFill>
                <a:latin typeface="Calibri"/>
              </a:defRPr>
            </a:pPr>
            <a:r>
              <a:t>×</a:t>
            </a:r>
          </a:p>
        </p:txBody>
      </p:sp>
      <p:sp>
        <p:nvSpPr>
          <p:cNvPr id="8" name="TextBox 7"/>
          <p:cNvSpPr txBox="1"/>
          <p:nvPr/>
        </p:nvSpPr>
        <p:spPr>
          <a:xfrm>
            <a:off x="6675120" y="3840480"/>
            <a:ext cx="1097280" cy="731520"/>
          </a:xfrm>
          <a:prstGeom prst="rect">
            <a:avLst/>
          </a:prstGeom>
          <a:noFill/>
        </p:spPr>
        <p:txBody>
          <a:bodyPr wrap="square">
            <a:spAutoFit/>
          </a:bodyPr>
          <a:lstStyle/>
          <a:p>
            <a:pPr algn="ctr">
              <a:defRPr sz="4800" b="1">
                <a:solidFill>
                  <a:srgbClr val="EF476F"/>
                </a:solidFill>
                <a:latin typeface="Calibri"/>
              </a:defRPr>
            </a:pPr>
            <a:r>
              <a:t>R</a:t>
            </a:r>
          </a:p>
        </p:txBody>
      </p:sp>
      <p:sp>
        <p:nvSpPr>
          <p:cNvPr id="9" name="Rounded Rectangle 8"/>
          <p:cNvSpPr/>
          <p:nvPr/>
        </p:nvSpPr>
        <p:spPr>
          <a:xfrm>
            <a:off x="1828800" y="5212080"/>
            <a:ext cx="2743200" cy="822960"/>
          </a:xfrm>
          <a:prstGeom prst="roundRect">
            <a:avLst/>
          </a:prstGeom>
          <a:solidFill>
            <a:srgbClr val="161E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828800" y="5230368"/>
            <a:ext cx="2743200" cy="320040"/>
          </a:xfrm>
          <a:prstGeom prst="rect">
            <a:avLst/>
          </a:prstGeom>
          <a:noFill/>
        </p:spPr>
        <p:txBody>
          <a:bodyPr wrap="square">
            <a:spAutoFit/>
          </a:bodyPr>
          <a:lstStyle/>
          <a:p>
            <a:pPr algn="ctr">
              <a:defRPr sz="1300" b="0">
                <a:solidFill>
                  <a:srgbClr val="94A3B8"/>
                </a:solidFill>
                <a:latin typeface="Calibri"/>
              </a:defRPr>
            </a:pPr>
            <a:r>
              <a:t>Find Voltage:</a:t>
            </a:r>
          </a:p>
        </p:txBody>
      </p:sp>
      <p:sp>
        <p:nvSpPr>
          <p:cNvPr id="11" name="TextBox 10"/>
          <p:cNvSpPr txBox="1"/>
          <p:nvPr/>
        </p:nvSpPr>
        <p:spPr>
          <a:xfrm>
            <a:off x="1828800" y="5532120"/>
            <a:ext cx="2743200" cy="457200"/>
          </a:xfrm>
          <a:prstGeom prst="rect">
            <a:avLst/>
          </a:prstGeom>
          <a:noFill/>
        </p:spPr>
        <p:txBody>
          <a:bodyPr wrap="square">
            <a:spAutoFit/>
          </a:bodyPr>
          <a:lstStyle/>
          <a:p>
            <a:pPr algn="ctr">
              <a:defRPr sz="2200" b="1">
                <a:solidFill>
                  <a:srgbClr val="FFD166"/>
                </a:solidFill>
                <a:latin typeface="Calibri"/>
              </a:defRPr>
            </a:pPr>
            <a:r>
              <a:t>V = I × R</a:t>
            </a:r>
          </a:p>
        </p:txBody>
      </p:sp>
      <p:sp>
        <p:nvSpPr>
          <p:cNvPr id="12" name="Rounded Rectangle 11"/>
          <p:cNvSpPr/>
          <p:nvPr/>
        </p:nvSpPr>
        <p:spPr>
          <a:xfrm>
            <a:off x="5029200" y="5212080"/>
            <a:ext cx="2743200" cy="822960"/>
          </a:xfrm>
          <a:prstGeom prst="roundRect">
            <a:avLst/>
          </a:prstGeom>
          <a:solidFill>
            <a:srgbClr val="161E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0" y="5230368"/>
            <a:ext cx="2743200" cy="320040"/>
          </a:xfrm>
          <a:prstGeom prst="rect">
            <a:avLst/>
          </a:prstGeom>
          <a:noFill/>
        </p:spPr>
        <p:txBody>
          <a:bodyPr wrap="square">
            <a:spAutoFit/>
          </a:bodyPr>
          <a:lstStyle/>
          <a:p>
            <a:pPr algn="ctr">
              <a:defRPr sz="1300" b="0">
                <a:solidFill>
                  <a:srgbClr val="94A3B8"/>
                </a:solidFill>
                <a:latin typeface="Calibri"/>
              </a:defRPr>
            </a:pPr>
            <a:r>
              <a:t>Find Current:</a:t>
            </a:r>
          </a:p>
        </p:txBody>
      </p:sp>
      <p:sp>
        <p:nvSpPr>
          <p:cNvPr id="14" name="TextBox 13"/>
          <p:cNvSpPr txBox="1"/>
          <p:nvPr/>
        </p:nvSpPr>
        <p:spPr>
          <a:xfrm>
            <a:off x="5029200" y="5532120"/>
            <a:ext cx="2743200" cy="457200"/>
          </a:xfrm>
          <a:prstGeom prst="rect">
            <a:avLst/>
          </a:prstGeom>
          <a:noFill/>
        </p:spPr>
        <p:txBody>
          <a:bodyPr wrap="square">
            <a:spAutoFit/>
          </a:bodyPr>
          <a:lstStyle/>
          <a:p>
            <a:pPr algn="ctr">
              <a:defRPr sz="2200" b="1">
                <a:solidFill>
                  <a:srgbClr val="06D6A0"/>
                </a:solidFill>
                <a:latin typeface="Calibri"/>
              </a:defRPr>
            </a:pPr>
            <a:r>
              <a:t>I = V / R</a:t>
            </a:r>
          </a:p>
        </p:txBody>
      </p:sp>
      <p:sp>
        <p:nvSpPr>
          <p:cNvPr id="15" name="Rounded Rectangle 14"/>
          <p:cNvSpPr/>
          <p:nvPr/>
        </p:nvSpPr>
        <p:spPr>
          <a:xfrm>
            <a:off x="8229600" y="5212080"/>
            <a:ext cx="2743200" cy="822960"/>
          </a:xfrm>
          <a:prstGeom prst="roundRect">
            <a:avLst/>
          </a:prstGeom>
          <a:solidFill>
            <a:srgbClr val="161E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5230368"/>
            <a:ext cx="2743200" cy="320040"/>
          </a:xfrm>
          <a:prstGeom prst="rect">
            <a:avLst/>
          </a:prstGeom>
          <a:noFill/>
        </p:spPr>
        <p:txBody>
          <a:bodyPr wrap="square">
            <a:spAutoFit/>
          </a:bodyPr>
          <a:lstStyle/>
          <a:p>
            <a:pPr algn="ctr">
              <a:defRPr sz="1300" b="0">
                <a:solidFill>
                  <a:srgbClr val="94A3B8"/>
                </a:solidFill>
                <a:latin typeface="Calibri"/>
              </a:defRPr>
            </a:pPr>
            <a:r>
              <a:t>Find Resistance:</a:t>
            </a:r>
          </a:p>
        </p:txBody>
      </p:sp>
      <p:sp>
        <p:nvSpPr>
          <p:cNvPr id="17" name="TextBox 16"/>
          <p:cNvSpPr txBox="1"/>
          <p:nvPr/>
        </p:nvSpPr>
        <p:spPr>
          <a:xfrm>
            <a:off x="8229600" y="5532120"/>
            <a:ext cx="2743200" cy="457200"/>
          </a:xfrm>
          <a:prstGeom prst="rect">
            <a:avLst/>
          </a:prstGeom>
          <a:noFill/>
        </p:spPr>
        <p:txBody>
          <a:bodyPr wrap="square">
            <a:spAutoFit/>
          </a:bodyPr>
          <a:lstStyle/>
          <a:p>
            <a:pPr algn="ctr">
              <a:defRPr sz="2200" b="1">
                <a:solidFill>
                  <a:srgbClr val="EF476F"/>
                </a:solidFill>
                <a:latin typeface="Calibri"/>
              </a:defRPr>
            </a:pPr>
            <a:r>
              <a:t>R = V / 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0E1A"/>
        </a:solidFill>
        <a:effectLst/>
      </p:bgPr>
    </p:bg>
    <p:spTree>
      <p:nvGrpSpPr>
        <p:cNvPr id="1" name=""/>
        <p:cNvGrpSpPr/>
        <p:nvPr/>
      </p:nvGrpSpPr>
      <p:grpSpPr/>
      <p:sp>
        <p:nvSpPr>
          <p:cNvPr id="2" name="TextBox 1"/>
          <p:cNvSpPr txBox="1"/>
          <p:nvPr/>
        </p:nvSpPr>
        <p:spPr>
          <a:xfrm>
            <a:off x="0" y="274320"/>
            <a:ext cx="12191695" cy="640080"/>
          </a:xfrm>
          <a:prstGeom prst="rect">
            <a:avLst/>
          </a:prstGeom>
          <a:noFill/>
        </p:spPr>
        <p:txBody>
          <a:bodyPr wrap="square">
            <a:spAutoFit/>
          </a:bodyPr>
          <a:lstStyle/>
          <a:p>
            <a:pPr algn="ctr">
              <a:defRPr sz="3600" b="1">
                <a:solidFill>
                  <a:srgbClr val="06D6A0"/>
                </a:solidFill>
                <a:latin typeface="Calibri"/>
              </a:defRPr>
            </a:pPr>
            <a:r>
              <a:t>Ohm's Law Simulator</a:t>
            </a:r>
          </a:p>
        </p:txBody>
      </p:sp>
      <p:sp>
        <p:nvSpPr>
          <p:cNvPr id="3" name="TextBox 2"/>
          <p:cNvSpPr txBox="1"/>
          <p:nvPr/>
        </p:nvSpPr>
        <p:spPr>
          <a:xfrm>
            <a:off x="0" y="914400"/>
            <a:ext cx="12191695" cy="457200"/>
          </a:xfrm>
          <a:prstGeom prst="rect">
            <a:avLst/>
          </a:prstGeom>
          <a:noFill/>
        </p:spPr>
        <p:txBody>
          <a:bodyPr wrap="square">
            <a:spAutoFit/>
          </a:bodyPr>
          <a:lstStyle/>
          <a:p>
            <a:pPr algn="ctr">
              <a:defRPr sz="1400" b="0">
                <a:solidFill>
                  <a:srgbClr val="94A3B8"/>
                </a:solidFill>
                <a:latin typeface="Calibri"/>
              </a:defRPr>
            </a:pPr>
            <a:r>
              <a:t>Adjust voltage and resistance to see how current changes (Interactive version available in HTML)</a:t>
            </a:r>
          </a:p>
        </p:txBody>
      </p:sp>
      <p:sp>
        <p:nvSpPr>
          <p:cNvPr id="4" name="Rounded Rectangle 3"/>
          <p:cNvSpPr/>
          <p:nvPr/>
        </p:nvSpPr>
        <p:spPr>
          <a:xfrm>
            <a:off x="914400" y="1645920"/>
            <a:ext cx="3200400" cy="4114800"/>
          </a:xfrm>
          <a:prstGeom prst="roundRect">
            <a:avLst/>
          </a:prstGeom>
          <a:solidFill>
            <a:srgbClr val="161E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737360"/>
            <a:ext cx="3200400" cy="365760"/>
          </a:xfrm>
          <a:prstGeom prst="rect">
            <a:avLst/>
          </a:prstGeom>
          <a:noFill/>
        </p:spPr>
        <p:txBody>
          <a:bodyPr wrap="square">
            <a:spAutoFit/>
          </a:bodyPr>
          <a:lstStyle/>
          <a:p>
            <a:pPr algn="ctr">
              <a:defRPr sz="1800" b="1">
                <a:solidFill>
                  <a:srgbClr val="FFD166"/>
                </a:solidFill>
                <a:latin typeface="Calibri"/>
              </a:defRPr>
            </a:pPr>
            <a:r>
              <a:t>Example 1</a:t>
            </a:r>
          </a:p>
        </p:txBody>
      </p:sp>
      <p:sp>
        <p:nvSpPr>
          <p:cNvPr id="6" name="TextBox 5"/>
          <p:cNvSpPr txBox="1"/>
          <p:nvPr/>
        </p:nvSpPr>
        <p:spPr>
          <a:xfrm>
            <a:off x="914400" y="2194560"/>
            <a:ext cx="3200400" cy="457200"/>
          </a:xfrm>
          <a:prstGeom prst="rect">
            <a:avLst/>
          </a:prstGeom>
          <a:noFill/>
        </p:spPr>
        <p:txBody>
          <a:bodyPr wrap="square">
            <a:spAutoFit/>
          </a:bodyPr>
          <a:lstStyle/>
          <a:p>
            <a:pPr algn="ctr">
              <a:defRPr sz="2000" b="1">
                <a:solidFill>
                  <a:srgbClr val="F0F4F8"/>
                </a:solidFill>
                <a:latin typeface="Calibri"/>
              </a:defRPr>
            </a:pPr>
            <a:r>
              <a:t>12V / 100Ω</a:t>
            </a:r>
          </a:p>
        </p:txBody>
      </p:sp>
      <p:sp>
        <p:nvSpPr>
          <p:cNvPr id="7" name="TextBox 6"/>
          <p:cNvSpPr txBox="1"/>
          <p:nvPr/>
        </p:nvSpPr>
        <p:spPr>
          <a:xfrm>
            <a:off x="914400" y="2926080"/>
            <a:ext cx="3200400" cy="274320"/>
          </a:xfrm>
          <a:prstGeom prst="rect">
            <a:avLst/>
          </a:prstGeom>
          <a:noFill/>
        </p:spPr>
        <p:txBody>
          <a:bodyPr wrap="square">
            <a:spAutoFit/>
          </a:bodyPr>
          <a:lstStyle/>
          <a:p>
            <a:pPr algn="ctr">
              <a:defRPr sz="1200" b="0">
                <a:solidFill>
                  <a:srgbClr val="94A3B8"/>
                </a:solidFill>
                <a:latin typeface="Calibri"/>
              </a:defRPr>
            </a:pPr>
            <a:r>
              <a:t>Current</a:t>
            </a:r>
          </a:p>
        </p:txBody>
      </p:sp>
      <p:sp>
        <p:nvSpPr>
          <p:cNvPr id="8" name="TextBox 7"/>
          <p:cNvSpPr txBox="1"/>
          <p:nvPr/>
        </p:nvSpPr>
        <p:spPr>
          <a:xfrm>
            <a:off x="914400" y="3200400"/>
            <a:ext cx="3200400" cy="640080"/>
          </a:xfrm>
          <a:prstGeom prst="rect">
            <a:avLst/>
          </a:prstGeom>
          <a:noFill/>
        </p:spPr>
        <p:txBody>
          <a:bodyPr wrap="square">
            <a:spAutoFit/>
          </a:bodyPr>
          <a:lstStyle/>
          <a:p>
            <a:pPr algn="ctr">
              <a:defRPr sz="3600" b="1">
                <a:solidFill>
                  <a:srgbClr val="06D6A0"/>
                </a:solidFill>
                <a:latin typeface="Calibri"/>
              </a:defRPr>
            </a:pPr>
            <a:r>
              <a:t>= 0.120 A</a:t>
            </a:r>
          </a:p>
        </p:txBody>
      </p:sp>
      <p:sp>
        <p:nvSpPr>
          <p:cNvPr id="9" name="TextBox 8"/>
          <p:cNvSpPr txBox="1"/>
          <p:nvPr/>
        </p:nvSpPr>
        <p:spPr>
          <a:xfrm>
            <a:off x="914400" y="4114800"/>
            <a:ext cx="3200400" cy="274320"/>
          </a:xfrm>
          <a:prstGeom prst="rect">
            <a:avLst/>
          </a:prstGeom>
          <a:noFill/>
        </p:spPr>
        <p:txBody>
          <a:bodyPr wrap="square">
            <a:spAutoFit/>
          </a:bodyPr>
          <a:lstStyle/>
          <a:p>
            <a:pPr algn="ctr">
              <a:defRPr sz="1200" b="0">
                <a:solidFill>
                  <a:srgbClr val="94A3B8"/>
                </a:solidFill>
                <a:latin typeface="Calibri"/>
              </a:defRPr>
            </a:pPr>
            <a:r>
              <a:t>Power</a:t>
            </a:r>
          </a:p>
        </p:txBody>
      </p:sp>
      <p:sp>
        <p:nvSpPr>
          <p:cNvPr id="10" name="TextBox 9"/>
          <p:cNvSpPr txBox="1"/>
          <p:nvPr/>
        </p:nvSpPr>
        <p:spPr>
          <a:xfrm>
            <a:off x="914400" y="4389120"/>
            <a:ext cx="3200400" cy="548640"/>
          </a:xfrm>
          <a:prstGeom prst="rect">
            <a:avLst/>
          </a:prstGeom>
          <a:noFill/>
        </p:spPr>
        <p:txBody>
          <a:bodyPr wrap="square">
            <a:spAutoFit/>
          </a:bodyPr>
          <a:lstStyle/>
          <a:p>
            <a:pPr algn="ctr">
              <a:defRPr sz="2800" b="1">
                <a:solidFill>
                  <a:srgbClr val="FFD166"/>
                </a:solidFill>
                <a:latin typeface="Calibri"/>
              </a:defRPr>
            </a:pPr>
            <a:r>
              <a:t>1.44 W</a:t>
            </a:r>
          </a:p>
        </p:txBody>
      </p:sp>
      <p:sp>
        <p:nvSpPr>
          <p:cNvPr id="11" name="Rounded Rectangle 10"/>
          <p:cNvSpPr/>
          <p:nvPr/>
        </p:nvSpPr>
        <p:spPr>
          <a:xfrm>
            <a:off x="4572000" y="1645920"/>
            <a:ext cx="3200400" cy="4114800"/>
          </a:xfrm>
          <a:prstGeom prst="roundRect">
            <a:avLst/>
          </a:prstGeom>
          <a:solidFill>
            <a:srgbClr val="161E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0" y="1737360"/>
            <a:ext cx="3200400" cy="365760"/>
          </a:xfrm>
          <a:prstGeom prst="rect">
            <a:avLst/>
          </a:prstGeom>
          <a:noFill/>
        </p:spPr>
        <p:txBody>
          <a:bodyPr wrap="square">
            <a:spAutoFit/>
          </a:bodyPr>
          <a:lstStyle/>
          <a:p>
            <a:pPr algn="ctr">
              <a:defRPr sz="1800" b="1">
                <a:solidFill>
                  <a:srgbClr val="FFD166"/>
                </a:solidFill>
                <a:latin typeface="Calibri"/>
              </a:defRPr>
            </a:pPr>
            <a:r>
              <a:t>Example 2</a:t>
            </a:r>
          </a:p>
        </p:txBody>
      </p:sp>
      <p:sp>
        <p:nvSpPr>
          <p:cNvPr id="13" name="TextBox 12"/>
          <p:cNvSpPr txBox="1"/>
          <p:nvPr/>
        </p:nvSpPr>
        <p:spPr>
          <a:xfrm>
            <a:off x="4572000" y="2194560"/>
            <a:ext cx="3200400" cy="457200"/>
          </a:xfrm>
          <a:prstGeom prst="rect">
            <a:avLst/>
          </a:prstGeom>
          <a:noFill/>
        </p:spPr>
        <p:txBody>
          <a:bodyPr wrap="square">
            <a:spAutoFit/>
          </a:bodyPr>
          <a:lstStyle/>
          <a:p>
            <a:pPr algn="ctr">
              <a:defRPr sz="2000" b="1">
                <a:solidFill>
                  <a:srgbClr val="F0F4F8"/>
                </a:solidFill>
                <a:latin typeface="Calibri"/>
              </a:defRPr>
            </a:pPr>
            <a:r>
              <a:t>24V / 8Ω</a:t>
            </a:r>
          </a:p>
        </p:txBody>
      </p:sp>
      <p:sp>
        <p:nvSpPr>
          <p:cNvPr id="14" name="TextBox 13"/>
          <p:cNvSpPr txBox="1"/>
          <p:nvPr/>
        </p:nvSpPr>
        <p:spPr>
          <a:xfrm>
            <a:off x="4572000" y="2926080"/>
            <a:ext cx="3200400" cy="274320"/>
          </a:xfrm>
          <a:prstGeom prst="rect">
            <a:avLst/>
          </a:prstGeom>
          <a:noFill/>
        </p:spPr>
        <p:txBody>
          <a:bodyPr wrap="square">
            <a:spAutoFit/>
          </a:bodyPr>
          <a:lstStyle/>
          <a:p>
            <a:pPr algn="ctr">
              <a:defRPr sz="1200" b="0">
                <a:solidFill>
                  <a:srgbClr val="94A3B8"/>
                </a:solidFill>
                <a:latin typeface="Calibri"/>
              </a:defRPr>
            </a:pPr>
            <a:r>
              <a:t>Current</a:t>
            </a:r>
          </a:p>
        </p:txBody>
      </p:sp>
      <p:sp>
        <p:nvSpPr>
          <p:cNvPr id="15" name="TextBox 14"/>
          <p:cNvSpPr txBox="1"/>
          <p:nvPr/>
        </p:nvSpPr>
        <p:spPr>
          <a:xfrm>
            <a:off x="4572000" y="3200400"/>
            <a:ext cx="3200400" cy="640080"/>
          </a:xfrm>
          <a:prstGeom prst="rect">
            <a:avLst/>
          </a:prstGeom>
          <a:noFill/>
        </p:spPr>
        <p:txBody>
          <a:bodyPr wrap="square">
            <a:spAutoFit/>
          </a:bodyPr>
          <a:lstStyle/>
          <a:p>
            <a:pPr algn="ctr">
              <a:defRPr sz="3600" b="1">
                <a:solidFill>
                  <a:srgbClr val="06D6A0"/>
                </a:solidFill>
                <a:latin typeface="Calibri"/>
              </a:defRPr>
            </a:pPr>
            <a:r>
              <a:t>= 3.000 A</a:t>
            </a:r>
          </a:p>
        </p:txBody>
      </p:sp>
      <p:sp>
        <p:nvSpPr>
          <p:cNvPr id="16" name="TextBox 15"/>
          <p:cNvSpPr txBox="1"/>
          <p:nvPr/>
        </p:nvSpPr>
        <p:spPr>
          <a:xfrm>
            <a:off x="4572000" y="4114800"/>
            <a:ext cx="3200400" cy="274320"/>
          </a:xfrm>
          <a:prstGeom prst="rect">
            <a:avLst/>
          </a:prstGeom>
          <a:noFill/>
        </p:spPr>
        <p:txBody>
          <a:bodyPr wrap="square">
            <a:spAutoFit/>
          </a:bodyPr>
          <a:lstStyle/>
          <a:p>
            <a:pPr algn="ctr">
              <a:defRPr sz="1200" b="0">
                <a:solidFill>
                  <a:srgbClr val="94A3B8"/>
                </a:solidFill>
                <a:latin typeface="Calibri"/>
              </a:defRPr>
            </a:pPr>
            <a:r>
              <a:t>Power</a:t>
            </a:r>
          </a:p>
        </p:txBody>
      </p:sp>
      <p:sp>
        <p:nvSpPr>
          <p:cNvPr id="17" name="TextBox 16"/>
          <p:cNvSpPr txBox="1"/>
          <p:nvPr/>
        </p:nvSpPr>
        <p:spPr>
          <a:xfrm>
            <a:off x="4572000" y="4389120"/>
            <a:ext cx="3200400" cy="548640"/>
          </a:xfrm>
          <a:prstGeom prst="rect">
            <a:avLst/>
          </a:prstGeom>
          <a:noFill/>
        </p:spPr>
        <p:txBody>
          <a:bodyPr wrap="square">
            <a:spAutoFit/>
          </a:bodyPr>
          <a:lstStyle/>
          <a:p>
            <a:pPr algn="ctr">
              <a:defRPr sz="2800" b="1">
                <a:solidFill>
                  <a:srgbClr val="FFD166"/>
                </a:solidFill>
                <a:latin typeface="Calibri"/>
              </a:defRPr>
            </a:pPr>
            <a:r>
              <a:t>72.00 W</a:t>
            </a:r>
          </a:p>
        </p:txBody>
      </p:sp>
      <p:sp>
        <p:nvSpPr>
          <p:cNvPr id="18" name="Rounded Rectangle 17"/>
          <p:cNvSpPr/>
          <p:nvPr/>
        </p:nvSpPr>
        <p:spPr>
          <a:xfrm>
            <a:off x="8229600" y="1645920"/>
            <a:ext cx="3200400" cy="4114800"/>
          </a:xfrm>
          <a:prstGeom prst="roundRect">
            <a:avLst/>
          </a:prstGeom>
          <a:solidFill>
            <a:srgbClr val="161E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0" y="1737360"/>
            <a:ext cx="3200400" cy="365760"/>
          </a:xfrm>
          <a:prstGeom prst="rect">
            <a:avLst/>
          </a:prstGeom>
          <a:noFill/>
        </p:spPr>
        <p:txBody>
          <a:bodyPr wrap="square">
            <a:spAutoFit/>
          </a:bodyPr>
          <a:lstStyle/>
          <a:p>
            <a:pPr algn="ctr">
              <a:defRPr sz="1800" b="1">
                <a:solidFill>
                  <a:srgbClr val="FFD166"/>
                </a:solidFill>
                <a:latin typeface="Calibri"/>
              </a:defRPr>
            </a:pPr>
            <a:r>
              <a:t>Example 3</a:t>
            </a:r>
          </a:p>
        </p:txBody>
      </p:sp>
      <p:sp>
        <p:nvSpPr>
          <p:cNvPr id="20" name="TextBox 19"/>
          <p:cNvSpPr txBox="1"/>
          <p:nvPr/>
        </p:nvSpPr>
        <p:spPr>
          <a:xfrm>
            <a:off x="8229600" y="2194560"/>
            <a:ext cx="3200400" cy="457200"/>
          </a:xfrm>
          <a:prstGeom prst="rect">
            <a:avLst/>
          </a:prstGeom>
          <a:noFill/>
        </p:spPr>
        <p:txBody>
          <a:bodyPr wrap="square">
            <a:spAutoFit/>
          </a:bodyPr>
          <a:lstStyle/>
          <a:p>
            <a:pPr algn="ctr">
              <a:defRPr sz="2000" b="1">
                <a:solidFill>
                  <a:srgbClr val="F0F4F8"/>
                </a:solidFill>
                <a:latin typeface="Calibri"/>
              </a:defRPr>
            </a:pPr>
            <a:r>
              <a:t>120V / 60Ω</a:t>
            </a:r>
          </a:p>
        </p:txBody>
      </p:sp>
      <p:sp>
        <p:nvSpPr>
          <p:cNvPr id="21" name="TextBox 20"/>
          <p:cNvSpPr txBox="1"/>
          <p:nvPr/>
        </p:nvSpPr>
        <p:spPr>
          <a:xfrm>
            <a:off x="8229600" y="2926080"/>
            <a:ext cx="3200400" cy="274320"/>
          </a:xfrm>
          <a:prstGeom prst="rect">
            <a:avLst/>
          </a:prstGeom>
          <a:noFill/>
        </p:spPr>
        <p:txBody>
          <a:bodyPr wrap="square">
            <a:spAutoFit/>
          </a:bodyPr>
          <a:lstStyle/>
          <a:p>
            <a:pPr algn="ctr">
              <a:defRPr sz="1200" b="0">
                <a:solidFill>
                  <a:srgbClr val="94A3B8"/>
                </a:solidFill>
                <a:latin typeface="Calibri"/>
              </a:defRPr>
            </a:pPr>
            <a:r>
              <a:t>Current</a:t>
            </a:r>
          </a:p>
        </p:txBody>
      </p:sp>
      <p:sp>
        <p:nvSpPr>
          <p:cNvPr id="22" name="TextBox 21"/>
          <p:cNvSpPr txBox="1"/>
          <p:nvPr/>
        </p:nvSpPr>
        <p:spPr>
          <a:xfrm>
            <a:off x="8229600" y="3200400"/>
            <a:ext cx="3200400" cy="640080"/>
          </a:xfrm>
          <a:prstGeom prst="rect">
            <a:avLst/>
          </a:prstGeom>
          <a:noFill/>
        </p:spPr>
        <p:txBody>
          <a:bodyPr wrap="square">
            <a:spAutoFit/>
          </a:bodyPr>
          <a:lstStyle/>
          <a:p>
            <a:pPr algn="ctr">
              <a:defRPr sz="3600" b="1">
                <a:solidFill>
                  <a:srgbClr val="06D6A0"/>
                </a:solidFill>
                <a:latin typeface="Calibri"/>
              </a:defRPr>
            </a:pPr>
            <a:r>
              <a:t>= 2.000 A</a:t>
            </a:r>
          </a:p>
        </p:txBody>
      </p:sp>
      <p:sp>
        <p:nvSpPr>
          <p:cNvPr id="23" name="TextBox 22"/>
          <p:cNvSpPr txBox="1"/>
          <p:nvPr/>
        </p:nvSpPr>
        <p:spPr>
          <a:xfrm>
            <a:off x="8229600" y="4114800"/>
            <a:ext cx="3200400" cy="274320"/>
          </a:xfrm>
          <a:prstGeom prst="rect">
            <a:avLst/>
          </a:prstGeom>
          <a:noFill/>
        </p:spPr>
        <p:txBody>
          <a:bodyPr wrap="square">
            <a:spAutoFit/>
          </a:bodyPr>
          <a:lstStyle/>
          <a:p>
            <a:pPr algn="ctr">
              <a:defRPr sz="1200" b="0">
                <a:solidFill>
                  <a:srgbClr val="94A3B8"/>
                </a:solidFill>
                <a:latin typeface="Calibri"/>
              </a:defRPr>
            </a:pPr>
            <a:r>
              <a:t>Power</a:t>
            </a:r>
          </a:p>
        </p:txBody>
      </p:sp>
      <p:sp>
        <p:nvSpPr>
          <p:cNvPr id="24" name="TextBox 23"/>
          <p:cNvSpPr txBox="1"/>
          <p:nvPr/>
        </p:nvSpPr>
        <p:spPr>
          <a:xfrm>
            <a:off x="8229600" y="4389120"/>
            <a:ext cx="3200400" cy="548640"/>
          </a:xfrm>
          <a:prstGeom prst="rect">
            <a:avLst/>
          </a:prstGeom>
          <a:noFill/>
        </p:spPr>
        <p:txBody>
          <a:bodyPr wrap="square">
            <a:spAutoFit/>
          </a:bodyPr>
          <a:lstStyle/>
          <a:p>
            <a:pPr algn="ctr">
              <a:defRPr sz="2800" b="1">
                <a:solidFill>
                  <a:srgbClr val="FFD166"/>
                </a:solidFill>
                <a:latin typeface="Calibri"/>
              </a:defRPr>
            </a:pPr>
            <a:r>
              <a:t>240.00 W</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0E1A"/>
        </a:solidFill>
        <a:effectLst/>
      </p:bgPr>
    </p:bg>
    <p:spTree>
      <p:nvGrpSpPr>
        <p:cNvPr id="1" name=""/>
        <p:cNvGrpSpPr/>
        <p:nvPr/>
      </p:nvGrpSpPr>
      <p:grpSpPr/>
      <p:sp>
        <p:nvSpPr>
          <p:cNvPr id="2" name="TextBox 1"/>
          <p:cNvSpPr txBox="1"/>
          <p:nvPr/>
        </p:nvSpPr>
        <p:spPr>
          <a:xfrm>
            <a:off x="0" y="274320"/>
            <a:ext cx="12191695" cy="640080"/>
          </a:xfrm>
          <a:prstGeom prst="rect">
            <a:avLst/>
          </a:prstGeom>
          <a:noFill/>
        </p:spPr>
        <p:txBody>
          <a:bodyPr wrap="square">
            <a:spAutoFit/>
          </a:bodyPr>
          <a:lstStyle/>
          <a:p>
            <a:pPr algn="ctr">
              <a:defRPr sz="3600" b="1">
                <a:solidFill>
                  <a:srgbClr val="06D6A0"/>
                </a:solidFill>
                <a:latin typeface="Calibri"/>
              </a:defRPr>
            </a:pPr>
            <a:r>
              <a:t>Solved Examples</a:t>
            </a:r>
          </a:p>
        </p:txBody>
      </p:sp>
      <p:sp>
        <p:nvSpPr>
          <p:cNvPr id="3" name="Rounded Rectangle 2"/>
          <p:cNvSpPr/>
          <p:nvPr/>
        </p:nvSpPr>
        <p:spPr>
          <a:xfrm>
            <a:off x="1371600" y="1097280"/>
            <a:ext cx="9448495" cy="1600200"/>
          </a:xfrm>
          <a:prstGeom prst="roundRect">
            <a:avLst/>
          </a:prstGeom>
          <a:solidFill>
            <a:srgbClr val="161E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645920" y="1170432"/>
            <a:ext cx="8686800" cy="320040"/>
          </a:xfrm>
          <a:prstGeom prst="rect">
            <a:avLst/>
          </a:prstGeom>
          <a:noFill/>
        </p:spPr>
        <p:txBody>
          <a:bodyPr wrap="square">
            <a:spAutoFit/>
          </a:bodyPr>
          <a:lstStyle/>
          <a:p>
            <a:pPr algn="l">
              <a:defRPr sz="1800" b="1">
                <a:solidFill>
                  <a:srgbClr val="FFD166"/>
                </a:solidFill>
                <a:latin typeface="Calibri"/>
              </a:defRPr>
            </a:pPr>
            <a:r>
              <a:t>Example 1: Finding Current</a:t>
            </a:r>
          </a:p>
        </p:txBody>
      </p:sp>
      <p:sp>
        <p:nvSpPr>
          <p:cNvPr id="5" name="TextBox 4"/>
          <p:cNvSpPr txBox="1"/>
          <p:nvPr/>
        </p:nvSpPr>
        <p:spPr>
          <a:xfrm>
            <a:off x="1645920" y="1508760"/>
            <a:ext cx="8686800" cy="274320"/>
          </a:xfrm>
          <a:prstGeom prst="rect">
            <a:avLst/>
          </a:prstGeom>
          <a:noFill/>
        </p:spPr>
        <p:txBody>
          <a:bodyPr wrap="square">
            <a:spAutoFit/>
          </a:bodyPr>
          <a:lstStyle/>
          <a:p>
            <a:pPr algn="l">
              <a:defRPr sz="1400" b="1">
                <a:solidFill>
                  <a:srgbClr val="06D6A0"/>
                </a:solidFill>
                <a:latin typeface="Calibri"/>
              </a:defRPr>
            </a:pPr>
            <a:r>
              <a:t>Given: V = 24V, R = 8Ω</a:t>
            </a:r>
          </a:p>
        </p:txBody>
      </p:sp>
      <p:sp>
        <p:nvSpPr>
          <p:cNvPr id="6" name="TextBox 5"/>
          <p:cNvSpPr txBox="1"/>
          <p:nvPr/>
        </p:nvSpPr>
        <p:spPr>
          <a:xfrm>
            <a:off x="1645920" y="1828800"/>
            <a:ext cx="8686800" cy="274320"/>
          </a:xfrm>
          <a:prstGeom prst="rect">
            <a:avLst/>
          </a:prstGeom>
          <a:noFill/>
        </p:spPr>
        <p:txBody>
          <a:bodyPr wrap="square">
            <a:spAutoFit/>
          </a:bodyPr>
          <a:lstStyle/>
          <a:p>
            <a:pPr algn="l">
              <a:defRPr sz="1400" b="0">
                <a:solidFill>
                  <a:srgbClr val="94A3B8"/>
                </a:solidFill>
                <a:latin typeface="Calibri"/>
              </a:defRPr>
            </a:pPr>
            <a:r>
              <a:t>Solution: I = V / R = 24 / 8</a:t>
            </a:r>
          </a:p>
        </p:txBody>
      </p:sp>
      <p:sp>
        <p:nvSpPr>
          <p:cNvPr id="7" name="TextBox 6"/>
          <p:cNvSpPr txBox="1"/>
          <p:nvPr/>
        </p:nvSpPr>
        <p:spPr>
          <a:xfrm>
            <a:off x="1645920" y="2194560"/>
            <a:ext cx="8686800" cy="320040"/>
          </a:xfrm>
          <a:prstGeom prst="rect">
            <a:avLst/>
          </a:prstGeom>
          <a:noFill/>
        </p:spPr>
        <p:txBody>
          <a:bodyPr wrap="square">
            <a:spAutoFit/>
          </a:bodyPr>
          <a:lstStyle/>
          <a:p>
            <a:pPr algn="l">
              <a:defRPr sz="1600" b="1">
                <a:solidFill>
                  <a:srgbClr val="06D6A0"/>
                </a:solidFill>
                <a:latin typeface="Calibri"/>
              </a:defRPr>
            </a:pPr>
            <a:r>
              <a:t>Answer: I = 3 Amperes</a:t>
            </a:r>
          </a:p>
        </p:txBody>
      </p:sp>
      <p:sp>
        <p:nvSpPr>
          <p:cNvPr id="8" name="Rounded Rectangle 7"/>
          <p:cNvSpPr/>
          <p:nvPr/>
        </p:nvSpPr>
        <p:spPr>
          <a:xfrm>
            <a:off x="1371600" y="2926080"/>
            <a:ext cx="9448495" cy="1600200"/>
          </a:xfrm>
          <a:prstGeom prst="roundRect">
            <a:avLst/>
          </a:prstGeom>
          <a:solidFill>
            <a:srgbClr val="161E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645920" y="2999232"/>
            <a:ext cx="8686800" cy="320040"/>
          </a:xfrm>
          <a:prstGeom prst="rect">
            <a:avLst/>
          </a:prstGeom>
          <a:noFill/>
        </p:spPr>
        <p:txBody>
          <a:bodyPr wrap="square">
            <a:spAutoFit/>
          </a:bodyPr>
          <a:lstStyle/>
          <a:p>
            <a:pPr algn="l">
              <a:defRPr sz="1800" b="1">
                <a:solidFill>
                  <a:srgbClr val="FFD166"/>
                </a:solidFill>
                <a:latin typeface="Calibri"/>
              </a:defRPr>
            </a:pPr>
            <a:r>
              <a:t>Example 2: Finding Voltage</a:t>
            </a:r>
          </a:p>
        </p:txBody>
      </p:sp>
      <p:sp>
        <p:nvSpPr>
          <p:cNvPr id="10" name="TextBox 9"/>
          <p:cNvSpPr txBox="1"/>
          <p:nvPr/>
        </p:nvSpPr>
        <p:spPr>
          <a:xfrm>
            <a:off x="1645920" y="3337560"/>
            <a:ext cx="8686800" cy="274320"/>
          </a:xfrm>
          <a:prstGeom prst="rect">
            <a:avLst/>
          </a:prstGeom>
          <a:noFill/>
        </p:spPr>
        <p:txBody>
          <a:bodyPr wrap="square">
            <a:spAutoFit/>
          </a:bodyPr>
          <a:lstStyle/>
          <a:p>
            <a:pPr algn="l">
              <a:defRPr sz="1400" b="1">
                <a:solidFill>
                  <a:srgbClr val="06D6A0"/>
                </a:solidFill>
                <a:latin typeface="Calibri"/>
              </a:defRPr>
            </a:pPr>
            <a:r>
              <a:t>Given: I = 5A, R = 12Ω</a:t>
            </a:r>
          </a:p>
        </p:txBody>
      </p:sp>
      <p:sp>
        <p:nvSpPr>
          <p:cNvPr id="11" name="TextBox 10"/>
          <p:cNvSpPr txBox="1"/>
          <p:nvPr/>
        </p:nvSpPr>
        <p:spPr>
          <a:xfrm>
            <a:off x="1645920" y="3657600"/>
            <a:ext cx="8686800" cy="274320"/>
          </a:xfrm>
          <a:prstGeom prst="rect">
            <a:avLst/>
          </a:prstGeom>
          <a:noFill/>
        </p:spPr>
        <p:txBody>
          <a:bodyPr wrap="square">
            <a:spAutoFit/>
          </a:bodyPr>
          <a:lstStyle/>
          <a:p>
            <a:pPr algn="l">
              <a:defRPr sz="1400" b="0">
                <a:solidFill>
                  <a:srgbClr val="94A3B8"/>
                </a:solidFill>
                <a:latin typeface="Calibri"/>
              </a:defRPr>
            </a:pPr>
            <a:r>
              <a:t>Solution: V = I × R = 5 × 12</a:t>
            </a:r>
          </a:p>
        </p:txBody>
      </p:sp>
      <p:sp>
        <p:nvSpPr>
          <p:cNvPr id="12" name="TextBox 11"/>
          <p:cNvSpPr txBox="1"/>
          <p:nvPr/>
        </p:nvSpPr>
        <p:spPr>
          <a:xfrm>
            <a:off x="1645920" y="4023360"/>
            <a:ext cx="8686800" cy="320040"/>
          </a:xfrm>
          <a:prstGeom prst="rect">
            <a:avLst/>
          </a:prstGeom>
          <a:noFill/>
        </p:spPr>
        <p:txBody>
          <a:bodyPr wrap="square">
            <a:spAutoFit/>
          </a:bodyPr>
          <a:lstStyle/>
          <a:p>
            <a:pPr algn="l">
              <a:defRPr sz="1600" b="1">
                <a:solidFill>
                  <a:srgbClr val="06D6A0"/>
                </a:solidFill>
                <a:latin typeface="Calibri"/>
              </a:defRPr>
            </a:pPr>
            <a:r>
              <a:t>Answer: V = 60 Volts</a:t>
            </a:r>
          </a:p>
        </p:txBody>
      </p:sp>
      <p:sp>
        <p:nvSpPr>
          <p:cNvPr id="13" name="Rounded Rectangle 12"/>
          <p:cNvSpPr/>
          <p:nvPr/>
        </p:nvSpPr>
        <p:spPr>
          <a:xfrm>
            <a:off x="1371600" y="4754880"/>
            <a:ext cx="9448495" cy="1600200"/>
          </a:xfrm>
          <a:prstGeom prst="roundRect">
            <a:avLst/>
          </a:prstGeom>
          <a:solidFill>
            <a:srgbClr val="161E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645920" y="4828032"/>
            <a:ext cx="8686800" cy="320040"/>
          </a:xfrm>
          <a:prstGeom prst="rect">
            <a:avLst/>
          </a:prstGeom>
          <a:noFill/>
        </p:spPr>
        <p:txBody>
          <a:bodyPr wrap="square">
            <a:spAutoFit/>
          </a:bodyPr>
          <a:lstStyle/>
          <a:p>
            <a:pPr algn="l">
              <a:defRPr sz="1800" b="1">
                <a:solidFill>
                  <a:srgbClr val="FFD166"/>
                </a:solidFill>
                <a:latin typeface="Calibri"/>
              </a:defRPr>
            </a:pPr>
            <a:r>
              <a:t>Example 3: Finding Resistance</a:t>
            </a:r>
          </a:p>
        </p:txBody>
      </p:sp>
      <p:sp>
        <p:nvSpPr>
          <p:cNvPr id="15" name="TextBox 14"/>
          <p:cNvSpPr txBox="1"/>
          <p:nvPr/>
        </p:nvSpPr>
        <p:spPr>
          <a:xfrm>
            <a:off x="1645920" y="5166360"/>
            <a:ext cx="8686800" cy="274320"/>
          </a:xfrm>
          <a:prstGeom prst="rect">
            <a:avLst/>
          </a:prstGeom>
          <a:noFill/>
        </p:spPr>
        <p:txBody>
          <a:bodyPr wrap="square">
            <a:spAutoFit/>
          </a:bodyPr>
          <a:lstStyle/>
          <a:p>
            <a:pPr algn="l">
              <a:defRPr sz="1400" b="1">
                <a:solidFill>
                  <a:srgbClr val="06D6A0"/>
                </a:solidFill>
                <a:latin typeface="Calibri"/>
              </a:defRPr>
            </a:pPr>
            <a:r>
              <a:t>Given: V = 120V, I = 0.5A</a:t>
            </a:r>
          </a:p>
        </p:txBody>
      </p:sp>
      <p:sp>
        <p:nvSpPr>
          <p:cNvPr id="16" name="TextBox 15"/>
          <p:cNvSpPr txBox="1"/>
          <p:nvPr/>
        </p:nvSpPr>
        <p:spPr>
          <a:xfrm>
            <a:off x="1645920" y="5486400"/>
            <a:ext cx="8686800" cy="274320"/>
          </a:xfrm>
          <a:prstGeom prst="rect">
            <a:avLst/>
          </a:prstGeom>
          <a:noFill/>
        </p:spPr>
        <p:txBody>
          <a:bodyPr wrap="square">
            <a:spAutoFit/>
          </a:bodyPr>
          <a:lstStyle/>
          <a:p>
            <a:pPr algn="l">
              <a:defRPr sz="1400" b="0">
                <a:solidFill>
                  <a:srgbClr val="94A3B8"/>
                </a:solidFill>
                <a:latin typeface="Calibri"/>
              </a:defRPr>
            </a:pPr>
            <a:r>
              <a:t>Solution: R = V / I = 120 / 0.5</a:t>
            </a:r>
          </a:p>
        </p:txBody>
      </p:sp>
      <p:sp>
        <p:nvSpPr>
          <p:cNvPr id="17" name="TextBox 16"/>
          <p:cNvSpPr txBox="1"/>
          <p:nvPr/>
        </p:nvSpPr>
        <p:spPr>
          <a:xfrm>
            <a:off x="1645920" y="5852160"/>
            <a:ext cx="8686800" cy="320040"/>
          </a:xfrm>
          <a:prstGeom prst="rect">
            <a:avLst/>
          </a:prstGeom>
          <a:noFill/>
        </p:spPr>
        <p:txBody>
          <a:bodyPr wrap="square">
            <a:spAutoFit/>
          </a:bodyPr>
          <a:lstStyle/>
          <a:p>
            <a:pPr algn="l">
              <a:defRPr sz="1600" b="1">
                <a:solidFill>
                  <a:srgbClr val="06D6A0"/>
                </a:solidFill>
                <a:latin typeface="Calibri"/>
              </a:defRPr>
            </a:pPr>
            <a:r>
              <a:t>Answer: R = 240 Ohms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0E1A"/>
        </a:solidFill>
        <a:effectLst/>
      </p:bgPr>
    </p:bg>
    <p:spTree>
      <p:nvGrpSpPr>
        <p:cNvPr id="1" name=""/>
        <p:cNvGrpSpPr/>
        <p:nvPr/>
      </p:nvGrpSpPr>
      <p:grpSpPr/>
      <p:sp>
        <p:nvSpPr>
          <p:cNvPr id="2" name="TextBox 1"/>
          <p:cNvSpPr txBox="1"/>
          <p:nvPr/>
        </p:nvSpPr>
        <p:spPr>
          <a:xfrm>
            <a:off x="731520" y="365760"/>
            <a:ext cx="6400800" cy="640080"/>
          </a:xfrm>
          <a:prstGeom prst="rect">
            <a:avLst/>
          </a:prstGeom>
          <a:noFill/>
        </p:spPr>
        <p:txBody>
          <a:bodyPr wrap="square">
            <a:spAutoFit/>
          </a:bodyPr>
          <a:lstStyle/>
          <a:p>
            <a:pPr algn="l">
              <a:defRPr sz="3600" b="1">
                <a:solidFill>
                  <a:srgbClr val="06D6A0"/>
                </a:solidFill>
                <a:latin typeface="Calibri"/>
              </a:defRPr>
            </a:pPr>
            <a:r>
              <a:t>Practical Applications</a:t>
            </a:r>
          </a:p>
        </p:txBody>
      </p:sp>
      <p:sp>
        <p:nvSpPr>
          <p:cNvPr id="3" name="Rounded Rectangle 2"/>
          <p:cNvSpPr/>
          <p:nvPr/>
        </p:nvSpPr>
        <p:spPr>
          <a:xfrm>
            <a:off x="731520" y="1188720"/>
            <a:ext cx="5943600" cy="1005840"/>
          </a:xfrm>
          <a:prstGeom prst="roundRect">
            <a:avLst/>
          </a:prstGeom>
          <a:solidFill>
            <a:srgbClr val="161E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261872"/>
            <a:ext cx="5486400" cy="320040"/>
          </a:xfrm>
          <a:prstGeom prst="rect">
            <a:avLst/>
          </a:prstGeom>
          <a:noFill/>
        </p:spPr>
        <p:txBody>
          <a:bodyPr wrap="square">
            <a:spAutoFit/>
          </a:bodyPr>
          <a:lstStyle/>
          <a:p>
            <a:pPr algn="l">
              <a:defRPr sz="1600" b="1">
                <a:solidFill>
                  <a:srgbClr val="FFD166"/>
                </a:solidFill>
                <a:latin typeface="Calibri"/>
              </a:defRPr>
            </a:pPr>
            <a:r>
              <a:t>💡 LED Circuit Design</a:t>
            </a:r>
          </a:p>
        </p:txBody>
      </p:sp>
      <p:sp>
        <p:nvSpPr>
          <p:cNvPr id="5" name="TextBox 4"/>
          <p:cNvSpPr txBox="1"/>
          <p:nvPr/>
        </p:nvSpPr>
        <p:spPr>
          <a:xfrm>
            <a:off x="914400" y="1627632"/>
            <a:ext cx="5486400" cy="457200"/>
          </a:xfrm>
          <a:prstGeom prst="rect">
            <a:avLst/>
          </a:prstGeom>
          <a:noFill/>
        </p:spPr>
        <p:txBody>
          <a:bodyPr wrap="square">
            <a:spAutoFit/>
          </a:bodyPr>
          <a:lstStyle/>
          <a:p>
            <a:pPr algn="l">
              <a:defRPr sz="1200" b="0">
                <a:solidFill>
                  <a:srgbClr val="94A3B8"/>
                </a:solidFill>
                <a:latin typeface="Calibri"/>
              </a:defRPr>
            </a:pPr>
            <a:r>
              <a:t>Calculate the correct resistor value to safely drive an LED without burning it out.</a:t>
            </a:r>
          </a:p>
        </p:txBody>
      </p:sp>
      <p:sp>
        <p:nvSpPr>
          <p:cNvPr id="6" name="Rounded Rectangle 5"/>
          <p:cNvSpPr/>
          <p:nvPr/>
        </p:nvSpPr>
        <p:spPr>
          <a:xfrm>
            <a:off x="731520" y="2377440"/>
            <a:ext cx="5943600" cy="1005840"/>
          </a:xfrm>
          <a:prstGeom prst="roundRect">
            <a:avLst/>
          </a:prstGeom>
          <a:solidFill>
            <a:srgbClr val="161E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450592"/>
            <a:ext cx="5486400" cy="320040"/>
          </a:xfrm>
          <a:prstGeom prst="rect">
            <a:avLst/>
          </a:prstGeom>
          <a:noFill/>
        </p:spPr>
        <p:txBody>
          <a:bodyPr wrap="square">
            <a:spAutoFit/>
          </a:bodyPr>
          <a:lstStyle/>
          <a:p>
            <a:pPr algn="l">
              <a:defRPr sz="1600" b="1">
                <a:solidFill>
                  <a:srgbClr val="FFD166"/>
                </a:solidFill>
                <a:latin typeface="Calibri"/>
              </a:defRPr>
            </a:pPr>
            <a:r>
              <a:t>🔌 Power Supply Design</a:t>
            </a:r>
          </a:p>
        </p:txBody>
      </p:sp>
      <p:sp>
        <p:nvSpPr>
          <p:cNvPr id="8" name="TextBox 7"/>
          <p:cNvSpPr txBox="1"/>
          <p:nvPr/>
        </p:nvSpPr>
        <p:spPr>
          <a:xfrm>
            <a:off x="914400" y="2816352"/>
            <a:ext cx="5486400" cy="457200"/>
          </a:xfrm>
          <a:prstGeom prst="rect">
            <a:avLst/>
          </a:prstGeom>
          <a:noFill/>
        </p:spPr>
        <p:txBody>
          <a:bodyPr wrap="square">
            <a:spAutoFit/>
          </a:bodyPr>
          <a:lstStyle/>
          <a:p>
            <a:pPr algn="l">
              <a:defRPr sz="1200" b="0">
                <a:solidFill>
                  <a:srgbClr val="94A3B8"/>
                </a:solidFill>
                <a:latin typeface="Calibri"/>
              </a:defRPr>
            </a:pPr>
            <a:r>
              <a:t>Determine current draw and power dissipation in voltage regulator circuits.</a:t>
            </a:r>
          </a:p>
        </p:txBody>
      </p:sp>
      <p:sp>
        <p:nvSpPr>
          <p:cNvPr id="9" name="Rounded Rectangle 8"/>
          <p:cNvSpPr/>
          <p:nvPr/>
        </p:nvSpPr>
        <p:spPr>
          <a:xfrm>
            <a:off x="731520" y="3566160"/>
            <a:ext cx="5943600" cy="1005840"/>
          </a:xfrm>
          <a:prstGeom prst="roundRect">
            <a:avLst/>
          </a:prstGeom>
          <a:solidFill>
            <a:srgbClr val="161E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639312"/>
            <a:ext cx="5486400" cy="320040"/>
          </a:xfrm>
          <a:prstGeom prst="rect">
            <a:avLst/>
          </a:prstGeom>
          <a:noFill/>
        </p:spPr>
        <p:txBody>
          <a:bodyPr wrap="square">
            <a:spAutoFit/>
          </a:bodyPr>
          <a:lstStyle/>
          <a:p>
            <a:pPr algn="l">
              <a:defRPr sz="1600" b="1">
                <a:solidFill>
                  <a:srgbClr val="FFD166"/>
                </a:solidFill>
                <a:latin typeface="Calibri"/>
              </a:defRPr>
            </a:pPr>
            <a:r>
              <a:t>🏠 Household Wiring</a:t>
            </a:r>
          </a:p>
        </p:txBody>
      </p:sp>
      <p:sp>
        <p:nvSpPr>
          <p:cNvPr id="11" name="TextBox 10"/>
          <p:cNvSpPr txBox="1"/>
          <p:nvPr/>
        </p:nvSpPr>
        <p:spPr>
          <a:xfrm>
            <a:off x="914400" y="4005072"/>
            <a:ext cx="5486400" cy="457200"/>
          </a:xfrm>
          <a:prstGeom prst="rect">
            <a:avLst/>
          </a:prstGeom>
          <a:noFill/>
        </p:spPr>
        <p:txBody>
          <a:bodyPr wrap="square">
            <a:spAutoFit/>
          </a:bodyPr>
          <a:lstStyle/>
          <a:p>
            <a:pPr algn="l">
              <a:defRPr sz="1200" b="0">
                <a:solidFill>
                  <a:srgbClr val="94A3B8"/>
                </a:solidFill>
                <a:latin typeface="Calibri"/>
              </a:defRPr>
            </a:pPr>
            <a:r>
              <a:t>Calculate wire gauge requirements and fuse ratings for safe home electrical installations.</a:t>
            </a:r>
          </a:p>
        </p:txBody>
      </p:sp>
      <p:sp>
        <p:nvSpPr>
          <p:cNvPr id="12" name="Rounded Rectangle 11"/>
          <p:cNvSpPr/>
          <p:nvPr/>
        </p:nvSpPr>
        <p:spPr>
          <a:xfrm>
            <a:off x="731520" y="4754880"/>
            <a:ext cx="5943600" cy="1005840"/>
          </a:xfrm>
          <a:prstGeom prst="roundRect">
            <a:avLst/>
          </a:prstGeom>
          <a:solidFill>
            <a:srgbClr val="161E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4828032"/>
            <a:ext cx="5486400" cy="320040"/>
          </a:xfrm>
          <a:prstGeom prst="rect">
            <a:avLst/>
          </a:prstGeom>
          <a:noFill/>
        </p:spPr>
        <p:txBody>
          <a:bodyPr wrap="square">
            <a:spAutoFit/>
          </a:bodyPr>
          <a:lstStyle/>
          <a:p>
            <a:pPr algn="l">
              <a:defRPr sz="1600" b="1">
                <a:solidFill>
                  <a:srgbClr val="FFD166"/>
                </a:solidFill>
                <a:latin typeface="Calibri"/>
              </a:defRPr>
            </a:pPr>
            <a:r>
              <a:t>🔧 Troubleshooting</a:t>
            </a:r>
          </a:p>
        </p:txBody>
      </p:sp>
      <p:sp>
        <p:nvSpPr>
          <p:cNvPr id="14" name="TextBox 13"/>
          <p:cNvSpPr txBox="1"/>
          <p:nvPr/>
        </p:nvSpPr>
        <p:spPr>
          <a:xfrm>
            <a:off x="914400" y="5193792"/>
            <a:ext cx="5486400" cy="457200"/>
          </a:xfrm>
          <a:prstGeom prst="rect">
            <a:avLst/>
          </a:prstGeom>
          <a:noFill/>
        </p:spPr>
        <p:txBody>
          <a:bodyPr wrap="square">
            <a:spAutoFit/>
          </a:bodyPr>
          <a:lstStyle/>
          <a:p>
            <a:pPr algn="l">
              <a:defRPr sz="1200" b="0">
                <a:solidFill>
                  <a:srgbClr val="94A3B8"/>
                </a:solidFill>
                <a:latin typeface="Calibri"/>
              </a:defRPr>
            </a:pPr>
            <a:r>
              <a:t>Diagnose faulty components by measuring voltage drops and comparing to expected values.</a:t>
            </a:r>
          </a:p>
        </p:txBody>
      </p:sp>
      <p:pic>
        <p:nvPicPr>
          <p:cNvPr id="15" name="Picture 14" descr="applications.png"/>
          <p:cNvPicPr>
            <a:picLocks noChangeAspect="1"/>
          </p:cNvPicPr>
          <p:nvPr/>
        </p:nvPicPr>
        <p:blipFill>
          <a:blip r:embed="rId2"/>
          <a:stretch>
            <a:fillRect/>
          </a:stretch>
        </p:blipFill>
        <p:spPr>
          <a:xfrm>
            <a:off x="7498079" y="731520"/>
            <a:ext cx="4114800" cy="41148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0E1A"/>
        </a:solidFill>
        <a:effectLst/>
      </p:bgPr>
    </p:bg>
    <p:spTree>
      <p:nvGrpSpPr>
        <p:cNvPr id="1" name=""/>
        <p:cNvGrpSpPr/>
        <p:nvPr/>
      </p:nvGrpSpPr>
      <p:grpSpPr/>
      <p:sp>
        <p:nvSpPr>
          <p:cNvPr id="2" name="TextBox 1"/>
          <p:cNvSpPr txBox="1"/>
          <p:nvPr/>
        </p:nvSpPr>
        <p:spPr>
          <a:xfrm>
            <a:off x="0" y="274320"/>
            <a:ext cx="12191695" cy="640080"/>
          </a:xfrm>
          <a:prstGeom prst="rect">
            <a:avLst/>
          </a:prstGeom>
          <a:noFill/>
        </p:spPr>
        <p:txBody>
          <a:bodyPr wrap="square">
            <a:spAutoFit/>
          </a:bodyPr>
          <a:lstStyle/>
          <a:p>
            <a:pPr algn="ctr">
              <a:defRPr sz="3600" b="1">
                <a:solidFill>
                  <a:srgbClr val="06D6A0"/>
                </a:solidFill>
                <a:latin typeface="Calibri"/>
              </a:defRPr>
            </a:pPr>
            <a:r>
              <a:t>Limitations of Ohm's Law</a:t>
            </a:r>
          </a:p>
        </p:txBody>
      </p:sp>
      <p:sp>
        <p:nvSpPr>
          <p:cNvPr id="3" name="TextBox 2"/>
          <p:cNvSpPr txBox="1"/>
          <p:nvPr/>
        </p:nvSpPr>
        <p:spPr>
          <a:xfrm>
            <a:off x="0" y="914400"/>
            <a:ext cx="12191695" cy="457200"/>
          </a:xfrm>
          <a:prstGeom prst="rect">
            <a:avLst/>
          </a:prstGeom>
          <a:noFill/>
        </p:spPr>
        <p:txBody>
          <a:bodyPr wrap="square">
            <a:spAutoFit/>
          </a:bodyPr>
          <a:lstStyle/>
          <a:p>
            <a:pPr algn="ctr">
              <a:defRPr sz="1500" b="0">
                <a:solidFill>
                  <a:srgbClr val="94A3B8"/>
                </a:solidFill>
                <a:latin typeface="Calibri"/>
              </a:defRPr>
            </a:pPr>
            <a:r>
              <a:t>Ohm's Law applies to ohmic (linear) conductors under constant physical conditions.</a:t>
            </a:r>
          </a:p>
        </p:txBody>
      </p:sp>
      <p:sp>
        <p:nvSpPr>
          <p:cNvPr id="4" name="Rounded Rectangle 3"/>
          <p:cNvSpPr/>
          <p:nvPr/>
        </p:nvSpPr>
        <p:spPr>
          <a:xfrm>
            <a:off x="1371600" y="1645920"/>
            <a:ext cx="9448495" cy="777240"/>
          </a:xfrm>
          <a:prstGeom prst="roundRect">
            <a:avLst/>
          </a:prstGeom>
          <a:solidFill>
            <a:srgbClr val="161E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645920" y="1783080"/>
            <a:ext cx="8961120" cy="502920"/>
          </a:xfrm>
          <a:prstGeom prst="rect">
            <a:avLst/>
          </a:prstGeom>
          <a:noFill/>
        </p:spPr>
        <p:txBody>
          <a:bodyPr wrap="square">
            <a:spAutoFit/>
          </a:bodyPr>
          <a:lstStyle/>
          <a:p>
            <a:pPr algn="l">
              <a:defRPr sz="1500" b="0">
                <a:solidFill>
                  <a:srgbClr val="94A3B8"/>
                </a:solidFill>
                <a:latin typeface="Calibri"/>
              </a:defRPr>
            </a:pPr>
            <a:r>
              <a:t>⚠️  Non-linear devices — Diodes, transistors, and LEDs do not obey Ohm's Law.</a:t>
            </a:r>
          </a:p>
        </p:txBody>
      </p:sp>
      <p:sp>
        <p:nvSpPr>
          <p:cNvPr id="6" name="Rounded Rectangle 5"/>
          <p:cNvSpPr/>
          <p:nvPr/>
        </p:nvSpPr>
        <p:spPr>
          <a:xfrm>
            <a:off x="1371600" y="2606040"/>
            <a:ext cx="9448495" cy="777240"/>
          </a:xfrm>
          <a:prstGeom prst="roundRect">
            <a:avLst/>
          </a:prstGeom>
          <a:solidFill>
            <a:srgbClr val="161E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45920" y="2743200"/>
            <a:ext cx="8961120" cy="502920"/>
          </a:xfrm>
          <a:prstGeom prst="rect">
            <a:avLst/>
          </a:prstGeom>
          <a:noFill/>
        </p:spPr>
        <p:txBody>
          <a:bodyPr wrap="square">
            <a:spAutoFit/>
          </a:bodyPr>
          <a:lstStyle/>
          <a:p>
            <a:pPr algn="l">
              <a:defRPr sz="1500" b="0">
                <a:solidFill>
                  <a:srgbClr val="94A3B8"/>
                </a:solidFill>
                <a:latin typeface="Calibri"/>
              </a:defRPr>
            </a:pPr>
            <a:r>
              <a:t>⚠️  Temperature dependence — Resistance changes with temperature.</a:t>
            </a:r>
          </a:p>
        </p:txBody>
      </p:sp>
      <p:sp>
        <p:nvSpPr>
          <p:cNvPr id="8" name="Rounded Rectangle 7"/>
          <p:cNvSpPr/>
          <p:nvPr/>
        </p:nvSpPr>
        <p:spPr>
          <a:xfrm>
            <a:off x="1371600" y="3566160"/>
            <a:ext cx="9448495" cy="777240"/>
          </a:xfrm>
          <a:prstGeom prst="roundRect">
            <a:avLst/>
          </a:prstGeom>
          <a:solidFill>
            <a:srgbClr val="161E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645920" y="3703320"/>
            <a:ext cx="8961120" cy="502920"/>
          </a:xfrm>
          <a:prstGeom prst="rect">
            <a:avLst/>
          </a:prstGeom>
          <a:noFill/>
        </p:spPr>
        <p:txBody>
          <a:bodyPr wrap="square">
            <a:spAutoFit/>
          </a:bodyPr>
          <a:lstStyle/>
          <a:p>
            <a:pPr algn="l">
              <a:defRPr sz="1500" b="0">
                <a:solidFill>
                  <a:srgbClr val="94A3B8"/>
                </a:solidFill>
                <a:latin typeface="Calibri"/>
              </a:defRPr>
            </a:pPr>
            <a:r>
              <a:t>⚠️  High-frequency AC circuits — Impedance must be considered.</a:t>
            </a:r>
          </a:p>
        </p:txBody>
      </p:sp>
      <p:sp>
        <p:nvSpPr>
          <p:cNvPr id="10" name="Rounded Rectangle 9"/>
          <p:cNvSpPr/>
          <p:nvPr/>
        </p:nvSpPr>
        <p:spPr>
          <a:xfrm>
            <a:off x="1371600" y="4526280"/>
            <a:ext cx="9448495" cy="777240"/>
          </a:xfrm>
          <a:prstGeom prst="roundRect">
            <a:avLst/>
          </a:prstGeom>
          <a:solidFill>
            <a:srgbClr val="161E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645920" y="4663440"/>
            <a:ext cx="8961120" cy="502920"/>
          </a:xfrm>
          <a:prstGeom prst="rect">
            <a:avLst/>
          </a:prstGeom>
          <a:noFill/>
        </p:spPr>
        <p:txBody>
          <a:bodyPr wrap="square">
            <a:spAutoFit/>
          </a:bodyPr>
          <a:lstStyle/>
          <a:p>
            <a:pPr algn="l">
              <a:defRPr sz="1500" b="0">
                <a:solidFill>
                  <a:srgbClr val="94A3B8"/>
                </a:solidFill>
                <a:latin typeface="Calibri"/>
              </a:defRPr>
            </a:pPr>
            <a:r>
              <a:t>⚠️  Semiconductors — Complex V-I characteristics vary with doping.</a:t>
            </a:r>
          </a:p>
        </p:txBody>
      </p:sp>
      <p:sp>
        <p:nvSpPr>
          <p:cNvPr id="12" name="Rounded Rectangle 11"/>
          <p:cNvSpPr/>
          <p:nvPr/>
        </p:nvSpPr>
        <p:spPr>
          <a:xfrm>
            <a:off x="1371600" y="5486400"/>
            <a:ext cx="9448495" cy="777240"/>
          </a:xfrm>
          <a:prstGeom prst="roundRect">
            <a:avLst/>
          </a:prstGeom>
          <a:solidFill>
            <a:srgbClr val="161E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645920" y="5623560"/>
            <a:ext cx="8961120" cy="502920"/>
          </a:xfrm>
          <a:prstGeom prst="rect">
            <a:avLst/>
          </a:prstGeom>
          <a:noFill/>
        </p:spPr>
        <p:txBody>
          <a:bodyPr wrap="square">
            <a:spAutoFit/>
          </a:bodyPr>
          <a:lstStyle/>
          <a:p>
            <a:pPr algn="l">
              <a:defRPr sz="1500" b="0">
                <a:solidFill>
                  <a:srgbClr val="94A3B8"/>
                </a:solidFill>
                <a:latin typeface="Calibri"/>
              </a:defRPr>
            </a:pPr>
            <a:r>
              <a:t>⚠️  Superconductors — Zero resistance at extremely low temperatures.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A0E1A"/>
        </a:solidFill>
        <a:effectLst/>
      </p:bgPr>
    </p:bg>
    <p:spTree>
      <p:nvGrpSpPr>
        <p:cNvPr id="1" name=""/>
        <p:cNvGrpSpPr/>
        <p:nvPr/>
      </p:nvGrpSpPr>
      <p:grpSpPr/>
      <p:sp>
        <p:nvSpPr>
          <p:cNvPr id="2" name="TextBox 1"/>
          <p:cNvSpPr txBox="1"/>
          <p:nvPr/>
        </p:nvSpPr>
        <p:spPr>
          <a:xfrm>
            <a:off x="0" y="1371600"/>
            <a:ext cx="12191695" cy="1371600"/>
          </a:xfrm>
          <a:prstGeom prst="rect">
            <a:avLst/>
          </a:prstGeom>
          <a:noFill/>
        </p:spPr>
        <p:txBody>
          <a:bodyPr wrap="square">
            <a:spAutoFit/>
          </a:bodyPr>
          <a:lstStyle/>
          <a:p>
            <a:pPr algn="ctr">
              <a:defRPr sz="7200" b="1">
                <a:solidFill>
                  <a:srgbClr val="FFD166"/>
                </a:solidFill>
                <a:latin typeface="Calibri"/>
              </a:defRPr>
            </a:pPr>
            <a:r>
              <a:t>Thank You!</a:t>
            </a:r>
          </a:p>
        </p:txBody>
      </p:sp>
      <p:sp>
        <p:nvSpPr>
          <p:cNvPr id="3" name="TextBox 2"/>
          <p:cNvSpPr txBox="1"/>
          <p:nvPr/>
        </p:nvSpPr>
        <p:spPr>
          <a:xfrm>
            <a:off x="0" y="2926080"/>
            <a:ext cx="12191695" cy="548640"/>
          </a:xfrm>
          <a:prstGeom prst="rect">
            <a:avLst/>
          </a:prstGeom>
          <a:noFill/>
        </p:spPr>
        <p:txBody>
          <a:bodyPr wrap="square">
            <a:spAutoFit/>
          </a:bodyPr>
          <a:lstStyle/>
          <a:p>
            <a:pPr algn="ctr">
              <a:defRPr sz="1800" b="0">
                <a:solidFill>
                  <a:srgbClr val="94A3B8"/>
                </a:solidFill>
                <a:latin typeface="Calibri"/>
              </a:defRPr>
            </a:pPr>
            <a:r>
              <a:t>We hope this presentation helped you understand the fundamentals of Ohm's Law.</a:t>
            </a:r>
          </a:p>
        </p:txBody>
      </p:sp>
      <p:sp>
        <p:nvSpPr>
          <p:cNvPr id="4" name="Rounded Rectangle 3"/>
          <p:cNvSpPr/>
          <p:nvPr/>
        </p:nvSpPr>
        <p:spPr>
          <a:xfrm>
            <a:off x="4114800" y="3657600"/>
            <a:ext cx="3962095" cy="822960"/>
          </a:xfrm>
          <a:prstGeom prst="roundRect">
            <a:avLst/>
          </a:prstGeom>
          <a:solidFill>
            <a:srgbClr val="161E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0" y="3703320"/>
            <a:ext cx="3962095" cy="731520"/>
          </a:xfrm>
          <a:prstGeom prst="rect">
            <a:avLst/>
          </a:prstGeom>
          <a:noFill/>
        </p:spPr>
        <p:txBody>
          <a:bodyPr wrap="square">
            <a:spAutoFit/>
          </a:bodyPr>
          <a:lstStyle/>
          <a:p>
            <a:pPr algn="ctr">
              <a:defRPr sz="4000" b="1">
                <a:solidFill>
                  <a:srgbClr val="FFD166"/>
                </a:solidFill>
                <a:latin typeface="Calibri"/>
              </a:defRPr>
            </a:pPr>
            <a:r>
              <a:t>V = I × R</a:t>
            </a:r>
          </a:p>
        </p:txBody>
      </p:sp>
      <p:sp>
        <p:nvSpPr>
          <p:cNvPr id="6" name="Rounded Rectangle 5"/>
          <p:cNvSpPr/>
          <p:nvPr/>
        </p:nvSpPr>
        <p:spPr>
          <a:xfrm>
            <a:off x="2011680" y="4754880"/>
            <a:ext cx="2560320" cy="822960"/>
          </a:xfrm>
          <a:prstGeom prst="roundRect">
            <a:avLst/>
          </a:prstGeom>
          <a:solidFill>
            <a:srgbClr val="161E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011680" y="4800600"/>
            <a:ext cx="2560320" cy="411480"/>
          </a:xfrm>
          <a:prstGeom prst="rect">
            <a:avLst/>
          </a:prstGeom>
          <a:noFill/>
        </p:spPr>
        <p:txBody>
          <a:bodyPr wrap="square">
            <a:spAutoFit/>
          </a:bodyPr>
          <a:lstStyle/>
          <a:p>
            <a:pPr algn="ctr">
              <a:defRPr sz="1400" b="1">
                <a:solidFill>
                  <a:srgbClr val="F0F4F8"/>
                </a:solidFill>
                <a:latin typeface="Calibri"/>
              </a:defRPr>
            </a:pPr>
            <a:r>
              <a:t>Pooja Santosh Mhais</a:t>
            </a:r>
          </a:p>
        </p:txBody>
      </p:sp>
      <p:sp>
        <p:nvSpPr>
          <p:cNvPr id="8" name="TextBox 7"/>
          <p:cNvSpPr txBox="1"/>
          <p:nvPr/>
        </p:nvSpPr>
        <p:spPr>
          <a:xfrm>
            <a:off x="2011680" y="5166360"/>
            <a:ext cx="2560320" cy="320040"/>
          </a:xfrm>
          <a:prstGeom prst="rect">
            <a:avLst/>
          </a:prstGeom>
          <a:noFill/>
        </p:spPr>
        <p:txBody>
          <a:bodyPr wrap="square">
            <a:spAutoFit/>
          </a:bodyPr>
          <a:lstStyle/>
          <a:p>
            <a:pPr algn="ctr">
              <a:defRPr sz="1100" b="0">
                <a:solidFill>
                  <a:srgbClr val="94A3B8"/>
                </a:solidFill>
                <a:latin typeface="Calibri"/>
              </a:defRPr>
            </a:pPr>
            <a:r>
              <a:t>Roll No. 1</a:t>
            </a:r>
          </a:p>
        </p:txBody>
      </p:sp>
      <p:sp>
        <p:nvSpPr>
          <p:cNvPr id="9" name="Rounded Rectangle 8"/>
          <p:cNvSpPr/>
          <p:nvPr/>
        </p:nvSpPr>
        <p:spPr>
          <a:xfrm>
            <a:off x="4937760" y="4754880"/>
            <a:ext cx="2560320" cy="822960"/>
          </a:xfrm>
          <a:prstGeom prst="roundRect">
            <a:avLst/>
          </a:prstGeom>
          <a:solidFill>
            <a:srgbClr val="161E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937760" y="4800600"/>
            <a:ext cx="2560320" cy="411480"/>
          </a:xfrm>
          <a:prstGeom prst="rect">
            <a:avLst/>
          </a:prstGeom>
          <a:noFill/>
        </p:spPr>
        <p:txBody>
          <a:bodyPr wrap="square">
            <a:spAutoFit/>
          </a:bodyPr>
          <a:lstStyle/>
          <a:p>
            <a:pPr algn="ctr">
              <a:defRPr sz="1400" b="1">
                <a:solidFill>
                  <a:srgbClr val="F0F4F8"/>
                </a:solidFill>
                <a:latin typeface="Calibri"/>
              </a:defRPr>
            </a:pPr>
            <a:r>
              <a:t>Rutuja Ramesh Gaikwad</a:t>
            </a:r>
          </a:p>
        </p:txBody>
      </p:sp>
      <p:sp>
        <p:nvSpPr>
          <p:cNvPr id="11" name="TextBox 10"/>
          <p:cNvSpPr txBox="1"/>
          <p:nvPr/>
        </p:nvSpPr>
        <p:spPr>
          <a:xfrm>
            <a:off x="4937760" y="5166360"/>
            <a:ext cx="2560320" cy="320040"/>
          </a:xfrm>
          <a:prstGeom prst="rect">
            <a:avLst/>
          </a:prstGeom>
          <a:noFill/>
        </p:spPr>
        <p:txBody>
          <a:bodyPr wrap="square">
            <a:spAutoFit/>
          </a:bodyPr>
          <a:lstStyle/>
          <a:p>
            <a:pPr algn="ctr">
              <a:defRPr sz="1100" b="0">
                <a:solidFill>
                  <a:srgbClr val="94A3B8"/>
                </a:solidFill>
                <a:latin typeface="Calibri"/>
              </a:defRPr>
            </a:pPr>
            <a:r>
              <a:t>Roll No. 2</a:t>
            </a:r>
          </a:p>
        </p:txBody>
      </p:sp>
      <p:sp>
        <p:nvSpPr>
          <p:cNvPr id="12" name="Rounded Rectangle 11"/>
          <p:cNvSpPr/>
          <p:nvPr/>
        </p:nvSpPr>
        <p:spPr>
          <a:xfrm>
            <a:off x="7863840" y="4754880"/>
            <a:ext cx="2560320" cy="822960"/>
          </a:xfrm>
          <a:prstGeom prst="roundRect">
            <a:avLst/>
          </a:prstGeom>
          <a:solidFill>
            <a:srgbClr val="161E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0" y="4800600"/>
            <a:ext cx="2560320" cy="411480"/>
          </a:xfrm>
          <a:prstGeom prst="rect">
            <a:avLst/>
          </a:prstGeom>
          <a:noFill/>
        </p:spPr>
        <p:txBody>
          <a:bodyPr wrap="square">
            <a:spAutoFit/>
          </a:bodyPr>
          <a:lstStyle/>
          <a:p>
            <a:pPr algn="ctr">
              <a:defRPr sz="1400" b="1">
                <a:solidFill>
                  <a:srgbClr val="F0F4F8"/>
                </a:solidFill>
                <a:latin typeface="Calibri"/>
              </a:defRPr>
            </a:pPr>
            <a:r>
              <a:t>Shubham Madhukar Gaikwad</a:t>
            </a:r>
          </a:p>
        </p:txBody>
      </p:sp>
      <p:sp>
        <p:nvSpPr>
          <p:cNvPr id="14" name="TextBox 13"/>
          <p:cNvSpPr txBox="1"/>
          <p:nvPr/>
        </p:nvSpPr>
        <p:spPr>
          <a:xfrm>
            <a:off x="7863840" y="5166360"/>
            <a:ext cx="2560320" cy="320040"/>
          </a:xfrm>
          <a:prstGeom prst="rect">
            <a:avLst/>
          </a:prstGeom>
          <a:noFill/>
        </p:spPr>
        <p:txBody>
          <a:bodyPr wrap="square">
            <a:spAutoFit/>
          </a:bodyPr>
          <a:lstStyle/>
          <a:p>
            <a:pPr algn="ctr">
              <a:defRPr sz="1100" b="0">
                <a:solidFill>
                  <a:srgbClr val="94A3B8"/>
                </a:solidFill>
                <a:latin typeface="Calibri"/>
              </a:defRPr>
            </a:pPr>
            <a:r>
              <a:t>Roll No. 3</a:t>
            </a:r>
          </a:p>
        </p:txBody>
      </p:sp>
      <p:sp>
        <p:nvSpPr>
          <p:cNvPr id="15" name="TextBox 14"/>
          <p:cNvSpPr txBox="1"/>
          <p:nvPr/>
        </p:nvSpPr>
        <p:spPr>
          <a:xfrm>
            <a:off x="0" y="5852160"/>
            <a:ext cx="12191695" cy="365760"/>
          </a:xfrm>
          <a:prstGeom prst="rect">
            <a:avLst/>
          </a:prstGeom>
          <a:noFill/>
        </p:spPr>
        <p:txBody>
          <a:bodyPr wrap="square">
            <a:spAutoFit/>
          </a:bodyPr>
          <a:lstStyle/>
          <a:p>
            <a:pPr algn="ctr">
              <a:defRPr sz="1300" b="0">
                <a:solidFill>
                  <a:srgbClr val="94A3B8"/>
                </a:solidFill>
                <a:latin typeface="Calibri"/>
              </a:defRPr>
            </a:pPr>
            <a:r>
              <a:t>MIT Polytechnic &amp; Engineering, Yeola • Electronics and Telecommunication Engineering</a:t>
            </a:r>
          </a:p>
        </p:txBody>
      </p:sp>
      <p:sp>
        <p:nvSpPr>
          <p:cNvPr id="16" name="Rectangle 15"/>
          <p:cNvSpPr/>
          <p:nvPr/>
        </p:nvSpPr>
        <p:spPr>
          <a:xfrm>
            <a:off x="0" y="6803136"/>
            <a:ext cx="12191695" cy="54864"/>
          </a:xfrm>
          <a:prstGeom prst="rect">
            <a:avLst/>
          </a:prstGeom>
          <a:solidFill>
            <a:srgbClr val="06D6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