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57" r:id="rId2"/>
    <p:sldId id="258" r:id="rId3"/>
    <p:sldId id="259" r:id="rId4"/>
    <p:sldId id="260" r:id="rId5"/>
    <p:sldId id="261" r:id="rId6"/>
    <p:sldId id="263" r:id="rId7"/>
    <p:sldId id="264" r:id="rId8"/>
    <p:sldId id="265" r:id="rId9"/>
    <p:sldId id="266" r:id="rId10"/>
    <p:sldId id="267" r:id="rId11"/>
    <p:sldId id="268" r:id="rId12"/>
    <p:sldId id="269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sj058013@gmail.com" initials="" lastIdx="1" clrIdx="0">
    <p:extLst>
      <p:ext uri="{19B8F6BF-5375-455C-9EA6-DF929625EA0E}">
        <p15:presenceInfo xmlns:p15="http://schemas.microsoft.com/office/powerpoint/2012/main" userId="d94ecdbff3d7f144" providerId="Windows Live"/>
      </p:ext>
    </p:extLst>
  </p:cmAuthor>
  <p:cmAuthor id="2" name="Abhinav Naik" initials="AN" lastIdx="2" clrIdx="1">
    <p:extLst>
      <p:ext uri="{19B8F6BF-5375-455C-9EA6-DF929625EA0E}">
        <p15:presenceInfo xmlns:p15="http://schemas.microsoft.com/office/powerpoint/2012/main" userId="baccae576ead9896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9582DA8-D531-4112-AF05-DF1AE44020E6}" v="2" dt="2025-11-04T03:28:27.716"/>
  </p1510:revLst>
</p1510:revInfo>
</file>

<file path=ppt/tableStyles.xml><?xml version="1.0" encoding="utf-8"?>
<a:tblStyleLst xmlns:a="http://schemas.openxmlformats.org/drawingml/2006/main" def="{5C22544A-7EE6-4342-B048-85BDC9FD1C3A}">
  <a:tblStyle styleId="{93296810-A885-4BE3-A3E7-6D5BEEA58F36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rgbClr val="FFFFFF"/>
              </a:solidFill>
            </a:ln>
          </a:left>
          <a:right>
            <a:ln w="12700" cmpd="sng">
              <a:solidFill>
                <a:srgbClr val="FFFFFF"/>
              </a:solidFill>
            </a:ln>
          </a:right>
          <a:top>
            <a:ln w="12700" cmpd="sng">
              <a:solidFill>
                <a:srgbClr val="FFFFFF"/>
              </a:solidFill>
            </a:ln>
          </a:top>
          <a:bottom>
            <a:ln w="12700" cmpd="sng">
              <a:solidFill>
                <a:srgbClr val="FFFFFF"/>
              </a:solidFill>
            </a:ln>
          </a:bottom>
          <a:insideH>
            <a:ln w="12700" cmpd="sng">
              <a:solidFill>
                <a:srgbClr val="FFFFFF"/>
              </a:solidFill>
            </a:ln>
          </a:insideH>
          <a:insideV>
            <a:ln w="12700" cmpd="sng">
              <a:solidFill>
                <a:srgbClr val="FFFFFF"/>
              </a:solidFill>
            </a:ln>
          </a:insideV>
        </a:tcBdr>
        <a:fill>
          <a:solidFill>
            <a:srgbClr val="70AD47">
              <a:tint val="20000"/>
            </a:srgbClr>
          </a:solidFill>
        </a:fill>
      </a:tcStyle>
    </a:wholeTbl>
    <a:band1H>
      <a:tcStyle>
        <a:tcBdr/>
        <a:fill>
          <a:solidFill>
            <a:srgbClr val="70AD47">
              <a:tint val="40000"/>
            </a:srgbClr>
          </a:solidFill>
        </a:fill>
      </a:tcStyle>
    </a:band1H>
    <a:band2H>
      <a:tcStyle>
        <a:tcBdr/>
      </a:tcStyle>
    </a:band2H>
    <a:band1V>
      <a:tcStyle>
        <a:tcBdr/>
        <a:fill>
          <a:solidFill>
            <a:srgbClr val="70AD47">
              <a:tint val="40000"/>
            </a:srgb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rgbClr val="70AD47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rgbClr val="70AD47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rgbClr val="FFFFFF"/>
              </a:solidFill>
            </a:ln>
          </a:top>
        </a:tcBdr>
        <a:fill>
          <a:solidFill>
            <a:srgbClr val="70AD47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rgbClr val="FFFFFF"/>
              </a:solidFill>
            </a:ln>
          </a:bottom>
        </a:tcBdr>
        <a:fill>
          <a:solidFill>
            <a:srgbClr val="70AD47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rgbClr val="000000"/>
        </a:fontRef>
        <a:srgbClr val="000000"/>
      </a:tcTxStyle>
      <a:tcStyle>
        <a:tcBdr>
          <a:left>
            <a:ln w="12700" cmpd="sng">
              <a:solidFill>
                <a:srgbClr val="000000"/>
              </a:solidFill>
            </a:ln>
          </a:left>
          <a:right>
            <a:ln w="12700" cmpd="sng">
              <a:solidFill>
                <a:srgbClr val="000000"/>
              </a:solidFill>
            </a:ln>
          </a:right>
          <a:top>
            <a:ln w="12700" cmpd="sng">
              <a:solidFill>
                <a:srgbClr val="000000"/>
              </a:solidFill>
            </a:ln>
          </a:top>
          <a:bottom>
            <a:ln w="12700" cmpd="sng">
              <a:solidFill>
                <a:srgbClr val="000000"/>
              </a:solidFill>
            </a:ln>
          </a:bottom>
          <a:insideH>
            <a:ln w="12700" cmpd="sng">
              <a:solidFill>
                <a:srgbClr val="000000"/>
              </a:solidFill>
            </a:ln>
          </a:insideH>
          <a:insideV>
            <a:ln w="12700" cmpd="sng">
              <a:solidFill>
                <a:srgbClr val="000000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commentAuthors" Target="commentAuthors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1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2" y="1"/>
            <a:ext cx="3076575" cy="5127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92" tIns="45745" rIns="91492" bIns="45745" numCol="1" anchor="t" anchorCtr="0" compatLnSpc="1">
            <a:prstTxWarp prst="textNoShape">
              <a:avLst/>
            </a:prstTxWarp>
          </a:bodyPr>
          <a:lstStyle>
            <a:lvl1pPr algn="l">
              <a:defRPr sz="1100"/>
            </a:lvl1pPr>
          </a:lstStyle>
          <a:p>
            <a:endParaRPr lang="en-US"/>
          </a:p>
        </p:txBody>
      </p:sp>
      <p:sp>
        <p:nvSpPr>
          <p:cNvPr id="104871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21139" y="1"/>
            <a:ext cx="3076575" cy="5127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92" tIns="45745" rIns="91492" bIns="45745" numCol="1" anchor="t" anchorCtr="0" compatLnSpc="1">
            <a:prstTxWarp prst="textNoShape">
              <a:avLst/>
            </a:prstTxWarp>
          </a:bodyPr>
          <a:lstStyle>
            <a:lvl1pPr algn="r">
              <a:defRPr sz="1100"/>
            </a:lvl1pPr>
          </a:lstStyle>
          <a:p>
            <a:endParaRPr lang="en-US"/>
          </a:p>
        </p:txBody>
      </p:sp>
      <p:sp>
        <p:nvSpPr>
          <p:cNvPr id="104871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90600" y="766763"/>
            <a:ext cx="5118100" cy="383857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104871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9614" y="4862514"/>
            <a:ext cx="5680075" cy="46053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92" tIns="45745" rIns="91492" bIns="45745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71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2" y="9720264"/>
            <a:ext cx="3076575" cy="5127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92" tIns="45745" rIns="91492" bIns="45745" numCol="1" anchor="b" anchorCtr="0" compatLnSpc="1">
            <a:prstTxWarp prst="textNoShape">
              <a:avLst/>
            </a:prstTxWarp>
          </a:bodyPr>
          <a:lstStyle>
            <a:lvl1pPr algn="l">
              <a:defRPr sz="1100"/>
            </a:lvl1pPr>
          </a:lstStyle>
          <a:p>
            <a:endParaRPr lang="en-US"/>
          </a:p>
        </p:txBody>
      </p:sp>
      <p:sp>
        <p:nvSpPr>
          <p:cNvPr id="104871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1139" y="9720264"/>
            <a:ext cx="3076575" cy="5127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92" tIns="45745" rIns="91492" bIns="45745" numCol="1" anchor="b" anchorCtr="0" compatLnSpc="1">
            <a:prstTxWarp prst="textNoShape">
              <a:avLst/>
            </a:prstTxWarp>
          </a:bodyPr>
          <a:lstStyle>
            <a:lvl1pPr algn="r">
              <a:defRPr sz="1100"/>
            </a:lvl1pPr>
          </a:lstStyle>
          <a:p>
            <a:fld id="{A9A0EA98-5831-4853-B862-C702E6EB345C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145730" name="Straight Connector 31"/>
            <p:cNvCxnSpPr>
              <a:cxnSpLocks/>
            </p:cNvCxnSpPr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45731" name="Straight Connector 20"/>
            <p:cNvCxnSpPr>
              <a:cxnSpLocks/>
            </p:cNvCxnSpPr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48606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48607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48608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48609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48610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48611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48612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48613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1048614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48615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048616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351EA9-37E8-4F7D-B274-67EFE53AD818}" type="datetimeFigureOut">
              <a:rPr lang="en-IN" smtClean="0"/>
              <a:t>04-11-2025</a:t>
            </a:fld>
            <a:endParaRPr lang="en-IN"/>
          </a:p>
        </p:txBody>
      </p:sp>
      <p:sp>
        <p:nvSpPr>
          <p:cNvPr id="1048617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048618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691977-A535-4397-9BB9-6785978E169D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9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48590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48591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351EA9-37E8-4F7D-B274-67EFE53AD818}" type="datetimeFigureOut">
              <a:rPr lang="en-IN" smtClean="0"/>
              <a:t>04-11-2025</a:t>
            </a:fld>
            <a:endParaRPr lang="en-IN"/>
          </a:p>
        </p:txBody>
      </p:sp>
      <p:sp>
        <p:nvSpPr>
          <p:cNvPr id="1048592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048593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691977-A535-4397-9BB9-6785978E169D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63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48664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66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351EA9-37E8-4F7D-B274-67EFE53AD818}" type="datetimeFigureOut">
              <a:rPr lang="en-IN" smtClean="0"/>
              <a:t>04-11-2025</a:t>
            </a:fld>
            <a:endParaRPr lang="en-IN"/>
          </a:p>
        </p:txBody>
      </p:sp>
      <p:sp>
        <p:nvSpPr>
          <p:cNvPr id="104866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04866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691977-A535-4397-9BB9-6785978E169D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8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48690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48691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48692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351EA9-37E8-4F7D-B274-67EFE53AD818}" type="datetimeFigureOut">
              <a:rPr lang="en-IN" smtClean="0"/>
              <a:t>04-11-2025</a:t>
            </a:fld>
            <a:endParaRPr lang="en-IN"/>
          </a:p>
        </p:txBody>
      </p:sp>
      <p:sp>
        <p:nvSpPr>
          <p:cNvPr id="1048693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048694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691977-A535-4397-9BB9-6785978E169D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6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48669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670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48671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672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48673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351EA9-37E8-4F7D-B274-67EFE53AD818}" type="datetimeFigureOut">
              <a:rPr lang="en-IN" smtClean="0"/>
              <a:t>04-11-2025</a:t>
            </a:fld>
            <a:endParaRPr lang="en-IN"/>
          </a:p>
        </p:txBody>
      </p:sp>
      <p:sp>
        <p:nvSpPr>
          <p:cNvPr id="1048674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048675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691977-A535-4397-9BB9-6785978E169D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4863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351EA9-37E8-4F7D-B274-67EFE53AD818}" type="datetimeFigureOut">
              <a:rPr lang="en-IN" smtClean="0"/>
              <a:t>04-11-2025</a:t>
            </a:fld>
            <a:endParaRPr lang="en-IN"/>
          </a:p>
        </p:txBody>
      </p:sp>
      <p:sp>
        <p:nvSpPr>
          <p:cNvPr id="104863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04863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691977-A535-4397-9BB9-6785978E169D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76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351EA9-37E8-4F7D-B274-67EFE53AD818}" type="datetimeFigureOut">
              <a:rPr lang="en-IN" smtClean="0"/>
              <a:t>04-11-2025</a:t>
            </a:fld>
            <a:endParaRPr lang="en-IN"/>
          </a:p>
        </p:txBody>
      </p:sp>
      <p:sp>
        <p:nvSpPr>
          <p:cNvPr id="1048677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048678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691977-A535-4397-9BB9-6785978E169D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01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48702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48703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704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351EA9-37E8-4F7D-B274-67EFE53AD818}" type="datetimeFigureOut">
              <a:rPr lang="en-IN" smtClean="0"/>
              <a:t>04-11-2025</a:t>
            </a:fld>
            <a:endParaRPr lang="en-IN"/>
          </a:p>
        </p:txBody>
      </p:sp>
      <p:sp>
        <p:nvSpPr>
          <p:cNvPr id="104870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04870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691977-A535-4397-9BB9-6785978E169D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4865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4865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65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351EA9-37E8-4F7D-B274-67EFE53AD818}" type="datetimeFigureOut">
              <a:rPr lang="en-IN" smtClean="0"/>
              <a:t>04-11-2025</a:t>
            </a:fld>
            <a:endParaRPr lang="en-IN"/>
          </a:p>
        </p:txBody>
      </p:sp>
      <p:sp>
        <p:nvSpPr>
          <p:cNvPr id="104865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04865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691977-A535-4397-9BB9-6785978E169D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84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48685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686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351EA9-37E8-4F7D-B274-67EFE53AD818}" type="datetimeFigureOut">
              <a:rPr lang="en-IN" smtClean="0"/>
              <a:t>04-11-2025</a:t>
            </a:fld>
            <a:endParaRPr lang="en-IN"/>
          </a:p>
        </p:txBody>
      </p:sp>
      <p:sp>
        <p:nvSpPr>
          <p:cNvPr id="1048687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048688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691977-A535-4397-9BB9-6785978E169D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4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48645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</a:lvl2pPr>
            <a:lvl3pPr marL="914400" indent="0">
              <a:buFontTx/>
              <a:buNone/>
            </a:lvl3pPr>
            <a:lvl4pPr marL="1371600" indent="0">
              <a:buFontTx/>
              <a:buNone/>
            </a:lvl4pPr>
            <a:lvl5pPr marL="1828800" indent="0">
              <a:buFontTx/>
              <a:buNone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646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64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351EA9-37E8-4F7D-B274-67EFE53AD818}" type="datetimeFigureOut">
              <a:rPr lang="en-IN" smtClean="0"/>
              <a:t>04-11-2025</a:t>
            </a:fld>
            <a:endParaRPr lang="en-IN"/>
          </a:p>
        </p:txBody>
      </p:sp>
      <p:sp>
        <p:nvSpPr>
          <p:cNvPr id="104864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04864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691977-A535-4397-9BB9-6785978E169D}" type="slidenum">
              <a:rPr lang="en-IN" smtClean="0"/>
              <a:t>‹#›</a:t>
            </a:fld>
            <a:endParaRPr lang="en-IN"/>
          </a:p>
        </p:txBody>
      </p:sp>
      <p:sp>
        <p:nvSpPr>
          <p:cNvPr id="104865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048651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79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48680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681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351EA9-37E8-4F7D-B274-67EFE53AD818}" type="datetimeFigureOut">
              <a:rPr lang="en-IN" smtClean="0"/>
              <a:t>04-11-2025</a:t>
            </a:fld>
            <a:endParaRPr lang="en-IN"/>
          </a:p>
        </p:txBody>
      </p:sp>
      <p:sp>
        <p:nvSpPr>
          <p:cNvPr id="1048682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048683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691977-A535-4397-9BB9-6785978E169D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6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48637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</a:lvl2pPr>
            <a:lvl3pPr marL="914400" indent="0">
              <a:buFontTx/>
              <a:buNone/>
            </a:lvl3pPr>
            <a:lvl4pPr marL="1371600" indent="0">
              <a:buFontTx/>
              <a:buNone/>
            </a:lvl4pPr>
            <a:lvl5pPr marL="1828800" indent="0">
              <a:buFontTx/>
              <a:buNone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638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639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351EA9-37E8-4F7D-B274-67EFE53AD818}" type="datetimeFigureOut">
              <a:rPr lang="en-IN" smtClean="0"/>
              <a:t>04-11-2025</a:t>
            </a:fld>
            <a:endParaRPr lang="en-IN"/>
          </a:p>
        </p:txBody>
      </p:sp>
      <p:sp>
        <p:nvSpPr>
          <p:cNvPr id="1048640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048641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691977-A535-4397-9BB9-6785978E169D}" type="slidenum">
              <a:rPr lang="en-IN" smtClean="0"/>
              <a:t>‹#›</a:t>
            </a:fld>
            <a:endParaRPr lang="en-IN"/>
          </a:p>
        </p:txBody>
      </p:sp>
      <p:sp>
        <p:nvSpPr>
          <p:cNvPr id="1048642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048643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95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48696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</a:lvl2pPr>
            <a:lvl3pPr marL="914400" indent="0">
              <a:buFontTx/>
              <a:buNone/>
            </a:lvl3pPr>
            <a:lvl4pPr marL="1371600" indent="0">
              <a:buFontTx/>
              <a:buNone/>
            </a:lvl4pPr>
            <a:lvl5pPr marL="1828800" indent="0">
              <a:buFontTx/>
              <a:buNone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697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698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351EA9-37E8-4F7D-B274-67EFE53AD818}" type="datetimeFigureOut">
              <a:rPr lang="en-IN" smtClean="0"/>
              <a:t>04-11-2025</a:t>
            </a:fld>
            <a:endParaRPr lang="en-IN"/>
          </a:p>
        </p:txBody>
      </p:sp>
      <p:sp>
        <p:nvSpPr>
          <p:cNvPr id="1048699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048700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691977-A535-4397-9BB9-6785978E169D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48659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48660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351EA9-37E8-4F7D-B274-67EFE53AD818}" type="datetimeFigureOut">
              <a:rPr lang="en-IN" smtClean="0"/>
              <a:t>04-11-2025</a:t>
            </a:fld>
            <a:endParaRPr lang="en-IN"/>
          </a:p>
        </p:txBody>
      </p:sp>
      <p:sp>
        <p:nvSpPr>
          <p:cNvPr id="1048661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048662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691977-A535-4397-9BB9-6785978E169D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07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48708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48709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351EA9-37E8-4F7D-B274-67EFE53AD818}" type="datetimeFigureOut">
              <a:rPr lang="en-IN" smtClean="0"/>
              <a:t>04-11-2025</a:t>
            </a:fld>
            <a:endParaRPr lang="en-IN"/>
          </a:p>
        </p:txBody>
      </p:sp>
      <p:sp>
        <p:nvSpPr>
          <p:cNvPr id="1048710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048711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691977-A535-4397-9BB9-6785978E169D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145728" name="Straight Connector 19"/>
            <p:cNvCxnSpPr>
              <a:cxnSpLocks/>
            </p:cNvCxnSpPr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45729" name="Straight Connector 20"/>
            <p:cNvCxnSpPr>
              <a:cxnSpLocks/>
            </p:cNvCxnSpPr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48576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48577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48578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48579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48580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48581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48582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48583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1048584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48585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48586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0351EA9-37E8-4F7D-B274-67EFE53AD818}" type="datetimeFigureOut">
              <a:rPr lang="en-IN" smtClean="0"/>
              <a:t>04-11-2025</a:t>
            </a:fld>
            <a:endParaRPr lang="en-IN"/>
          </a:p>
        </p:txBody>
      </p:sp>
      <p:sp>
        <p:nvSpPr>
          <p:cNvPr id="1048587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1048588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6691977-A535-4397-9BB9-6785978E169D}" type="slidenum">
              <a:rPr lang="en-IN" smtClean="0"/>
              <a:t>‹#›</a:t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youtube.com/shorts/yIQmBMLl_b0?si=Sh4FrdXk-qwLjW-g" TargetMode="External"/><Relationship Id="rId2" Type="http://schemas.openxmlformats.org/officeDocument/2006/relationships/hyperlink" Target="https://youtube.com/shorts/I964cbLAfAM?si=bR2VGQixXDRnIHKw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youtu.be/Vgsb9PGus9Q?si=K-cruh3sCuDLRqCk" TargetMode="External"/><Relationship Id="rId4" Type="http://schemas.openxmlformats.org/officeDocument/2006/relationships/hyperlink" Target="https://youtu.be/A-WQ8ikMZUQ?si=V7_NcfzIrMuobEVn" TargetMode="Externa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9" name="Title 1"/>
          <p:cNvSpPr>
            <a:spLocks noGrp="1"/>
          </p:cNvSpPr>
          <p:nvPr>
            <p:ph type="ctrTitle"/>
          </p:nvPr>
        </p:nvSpPr>
        <p:spPr>
          <a:xfrm>
            <a:off x="1553921" y="2354312"/>
            <a:ext cx="9925878" cy="790236"/>
          </a:xfrm>
        </p:spPr>
        <p:txBody>
          <a:bodyPr/>
          <a:lstStyle/>
          <a:p>
            <a:pPr algn="l"/>
            <a:r>
              <a:rPr lang="en-US" sz="3200" b="1" dirty="0">
                <a:latin typeface="Times New Roman"/>
                <a:ea typeface="Times New Roman"/>
                <a:cs typeface="Times New Roman"/>
                <a:sym typeface="Times New Roman"/>
              </a:rPr>
              <a:t>DEPARTMENT OF ELECTRICAL  ENGG</a:t>
            </a:r>
            <a:endParaRPr lang="en-IN" sz="3200" dirty="0"/>
          </a:p>
        </p:txBody>
      </p:sp>
      <p:sp>
        <p:nvSpPr>
          <p:cNvPr id="1048620" name="Subtitle 2"/>
          <p:cNvSpPr>
            <a:spLocks noGrp="1"/>
          </p:cNvSpPr>
          <p:nvPr>
            <p:ph type="subTitle" idx="1"/>
          </p:nvPr>
        </p:nvSpPr>
        <p:spPr>
          <a:xfrm>
            <a:off x="1094154" y="3144548"/>
            <a:ext cx="8373514" cy="3106270"/>
          </a:xfrm>
        </p:spPr>
        <p:txBody>
          <a:bodyPr>
            <a:noAutofit/>
          </a:bodyPr>
          <a:lstStyle/>
          <a:p>
            <a:pPr algn="l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Name:</a:t>
            </a:r>
            <a:r>
              <a:rPr lang="en-US" sz="20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Touchless Door Bell </a:t>
            </a:r>
          </a:p>
          <a:p>
            <a:pPr algn="l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Group Member :  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Gomladu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Rutik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Santosh </a:t>
            </a:r>
          </a:p>
          <a:p>
            <a:pPr algn="l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Gaikawad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Pavan Prashant</a:t>
            </a:r>
          </a:p>
          <a:p>
            <a:pPr algn="l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Bhad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Kiran Sachin</a:t>
            </a:r>
          </a:p>
          <a:p>
            <a:pPr algn="l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Guided Name: Miss.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Beldar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G.N </a:t>
            </a:r>
            <a:endParaRPr lang="en-IN" sz="2000" dirty="0"/>
          </a:p>
        </p:txBody>
      </p:sp>
      <p:pic>
        <p:nvPicPr>
          <p:cNvPr id="2097153" name="Google Shape;93;p13"/>
          <p:cNvPicPr preferRelativeResize="0">
            <a:picLocks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24350" y="272147"/>
            <a:ext cx="1668850" cy="1499375"/>
          </a:xfrm>
          <a:prstGeom prst="rect">
            <a:avLst/>
          </a:prstGeom>
          <a:noFill/>
          <a:ln>
            <a:noFill/>
          </a:ln>
        </p:spPr>
      </p:pic>
      <p:sp>
        <p:nvSpPr>
          <p:cNvPr id="1048621" name="TextBox 5"/>
          <p:cNvSpPr txBox="1"/>
          <p:nvPr/>
        </p:nvSpPr>
        <p:spPr>
          <a:xfrm>
            <a:off x="2193200" y="0"/>
            <a:ext cx="7662042" cy="21200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en-US" sz="3600" b="1" dirty="0">
                <a:latin typeface="Arial"/>
                <a:ea typeface="Arial"/>
                <a:cs typeface="Arial"/>
                <a:sym typeface="Arial"/>
              </a:rPr>
              <a:t>Matoshri Institute of Technology</a:t>
            </a:r>
          </a:p>
          <a:p>
            <a:pPr marL="0" lvl="0" indent="0" algn="ctr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78571"/>
              <a:buFont typeface="Arial"/>
              <a:buNone/>
            </a:pPr>
            <a:r>
              <a:rPr lang="en-US" sz="1800" dirty="0" err="1">
                <a:latin typeface="Arial"/>
                <a:ea typeface="Arial"/>
                <a:cs typeface="Arial"/>
                <a:sym typeface="Arial"/>
              </a:rPr>
              <a:t>Dhanore</a:t>
            </a:r>
            <a:r>
              <a:rPr lang="en-US" sz="1800" dirty="0">
                <a:latin typeface="Arial"/>
                <a:ea typeface="Arial"/>
                <a:cs typeface="Arial"/>
                <a:sym typeface="Arial"/>
              </a:rPr>
              <a:t>, Tal-</a:t>
            </a:r>
            <a:r>
              <a:rPr lang="en-US" sz="1800" dirty="0" err="1">
                <a:latin typeface="Arial"/>
                <a:ea typeface="Arial"/>
                <a:cs typeface="Arial"/>
                <a:sym typeface="Arial"/>
              </a:rPr>
              <a:t>Yeola</a:t>
            </a:r>
            <a:r>
              <a:rPr lang="en-US" sz="1800" dirty="0">
                <a:latin typeface="Arial"/>
                <a:ea typeface="Arial"/>
                <a:cs typeface="Arial"/>
                <a:sym typeface="Arial"/>
              </a:rPr>
              <a:t>, Dist. –Nasik (Maharashtra) -423401</a:t>
            </a:r>
          </a:p>
          <a:p>
            <a:pPr marL="0" lvl="0" indent="0" algn="ctr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78571"/>
              <a:buFont typeface="Arial"/>
              <a:buNone/>
            </a:pPr>
            <a:r>
              <a:rPr lang="en-US" sz="1800" dirty="0">
                <a:latin typeface="Arial"/>
                <a:ea typeface="Arial"/>
                <a:cs typeface="Arial"/>
                <a:sym typeface="Arial"/>
              </a:rPr>
              <a:t>(Approved by AICTE, New Delhi, DTE Mumbai)</a:t>
            </a:r>
          </a:p>
          <a:p>
            <a:pPr marL="0" lvl="0" indent="0" algn="ctr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78571"/>
              <a:buFont typeface="Arial"/>
              <a:buNone/>
            </a:pPr>
            <a:r>
              <a:rPr lang="en-US" sz="1800" dirty="0">
                <a:latin typeface="Arial"/>
                <a:ea typeface="Arial"/>
                <a:cs typeface="Arial"/>
                <a:sym typeface="Arial"/>
              </a:rPr>
              <a:t>E-mail: mityeola@gmail.com  </a:t>
            </a:r>
            <a:r>
              <a:rPr lang="en-US" sz="1800" dirty="0" err="1">
                <a:latin typeface="Arial"/>
                <a:ea typeface="Arial"/>
                <a:cs typeface="Arial"/>
                <a:sym typeface="Arial"/>
              </a:rPr>
              <a:t>Website:www.mityeola.com</a:t>
            </a:r>
            <a:endParaRPr lang="en-IN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3" name="Title 1"/>
          <p:cNvSpPr>
            <a:spLocks noGrp="1"/>
          </p:cNvSpPr>
          <p:nvPr>
            <p:ph type="title"/>
          </p:nvPr>
        </p:nvSpPr>
        <p:spPr>
          <a:xfrm>
            <a:off x="677334" y="839789"/>
            <a:ext cx="8596668" cy="1320800"/>
          </a:xfrm>
        </p:spPr>
        <p:txBody>
          <a:bodyPr/>
          <a:lstStyle/>
          <a:p>
            <a:pPr algn="ctr"/>
            <a:br>
              <a:rPr lang="en-US" b="1" dirty="0"/>
            </a:br>
            <a:r>
              <a:rPr lang="en-US" b="1" dirty="0"/>
              <a:t>INDEX</a:t>
            </a:r>
            <a:endParaRPr lang="en-IN" b="1" dirty="0"/>
          </a:p>
        </p:txBody>
      </p:sp>
      <p:sp>
        <p:nvSpPr>
          <p:cNvPr id="1048624" name="Content Placeholder 2"/>
          <p:cNvSpPr>
            <a:spLocks noGrp="1"/>
          </p:cNvSpPr>
          <p:nvPr>
            <p:ph idx="1"/>
          </p:nvPr>
        </p:nvSpPr>
        <p:spPr>
          <a:xfrm>
            <a:off x="1017036" y="2160589"/>
            <a:ext cx="8256965" cy="3880773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endParaRPr lang="en-IN" dirty="0"/>
          </a:p>
          <a:p>
            <a:r>
              <a:rPr lang="en-IN" dirty="0"/>
              <a:t>Abstract</a:t>
            </a:r>
          </a:p>
          <a:p>
            <a:r>
              <a:rPr lang="en-IN" dirty="0"/>
              <a:t>Introduction</a:t>
            </a:r>
          </a:p>
          <a:p>
            <a:r>
              <a:rPr lang="en-IN" dirty="0"/>
              <a:t>Object</a:t>
            </a:r>
          </a:p>
          <a:p>
            <a:r>
              <a:rPr lang="en-IN" dirty="0"/>
              <a:t>Block Diagram </a:t>
            </a:r>
          </a:p>
          <a:p>
            <a:r>
              <a:rPr lang="en-IN" dirty="0"/>
              <a:t>Working </a:t>
            </a:r>
          </a:p>
          <a:p>
            <a:r>
              <a:rPr lang="en-IN" dirty="0"/>
              <a:t>Component</a:t>
            </a:r>
          </a:p>
          <a:p>
            <a:r>
              <a:rPr lang="en-IN" dirty="0"/>
              <a:t>Advantages </a:t>
            </a:r>
          </a:p>
          <a:p>
            <a:r>
              <a:rPr lang="en-IN" dirty="0"/>
              <a:t>Application</a:t>
            </a:r>
          </a:p>
          <a:p>
            <a:r>
              <a:rPr lang="en-IN" dirty="0"/>
              <a:t>Reference</a:t>
            </a:r>
          </a:p>
          <a:p>
            <a:endParaRPr lang="en-IN" dirty="0"/>
          </a:p>
          <a:p>
            <a:endParaRPr lang="en-IN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4" name="Title 1"/>
          <p:cNvSpPr>
            <a:spLocks noGrp="1"/>
          </p:cNvSpPr>
          <p:nvPr>
            <p:ph type="title"/>
          </p:nvPr>
        </p:nvSpPr>
        <p:spPr>
          <a:xfrm>
            <a:off x="677334" y="977591"/>
            <a:ext cx="8596668" cy="1320800"/>
          </a:xfrm>
        </p:spPr>
        <p:txBody>
          <a:bodyPr/>
          <a:lstStyle/>
          <a:p>
            <a:r>
              <a:rPr lang="en-IN" dirty="0"/>
              <a:t>ABSTRACT</a:t>
            </a:r>
          </a:p>
        </p:txBody>
      </p:sp>
      <p:sp>
        <p:nvSpPr>
          <p:cNvPr id="1048605" name="Content Placeholder 2"/>
          <p:cNvSpPr>
            <a:spLocks noGrp="1"/>
          </p:cNvSpPr>
          <p:nvPr>
            <p:ph idx="1"/>
          </p:nvPr>
        </p:nvSpPr>
        <p:spPr>
          <a:xfrm>
            <a:off x="677334" y="2593910"/>
            <a:ext cx="8596668" cy="3447452"/>
          </a:xfrm>
        </p:spPr>
        <p:txBody>
          <a:bodyPr>
            <a:normAutofit/>
          </a:bodyPr>
          <a:lstStyle/>
          <a:p>
            <a:pPr marL="0" indent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Mangal" panose="02040503050203030202" pitchFamily="18" charset="0"/>
              </a:rPr>
              <a:t> </a:t>
            </a:r>
            <a:r>
              <a:rPr lang="en-US" dirty="0"/>
              <a:t>By leveraging proximity sensors, this system allows users to activate the </a:t>
            </a:r>
            <a:r>
              <a:rPr lang="en-US" b="1" dirty="0"/>
              <a:t>doorbell</a:t>
            </a:r>
            <a:r>
              <a:rPr lang="en-US" dirty="0"/>
              <a:t> without physical contact, reducing the risk of transmission of germs and improving accessibility for individuals with mobility challenges.</a:t>
            </a:r>
            <a:endParaRPr lang="en-IN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Mangal" panose="02040503050203030202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br>
              <a:rPr lang="en-US" dirty="0"/>
            </a:br>
            <a:r>
              <a:rPr lang="en-US" dirty="0"/>
              <a:t>I</a:t>
            </a:r>
            <a:r>
              <a:rPr lang="en-IN" dirty="0"/>
              <a:t>NTRODUCTION </a:t>
            </a:r>
            <a:endParaRPr lang="zh-CN" altLang="en-US" dirty="0"/>
          </a:p>
        </p:txBody>
      </p:sp>
      <p:sp>
        <p:nvSpPr>
          <p:cNvPr id="1048601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The Touchless Doorbell is a modern and hygienic solution designed to replace conventional push-button doorbells. In traditional systems, visitors must physically press the switch to ring the bell, which can lead to the spread of germs and viruses. </a:t>
            </a:r>
            <a:endParaRPr lang="en-IN" dirty="0"/>
          </a:p>
          <a:p>
            <a:r>
              <a:rPr lang="en-US" dirty="0"/>
              <a:t>The global pandemic has increased awareness about touch-free technologies that promote better hygiene. This project aims to create a safe and convenient alternative that operates without any physical contact. The system works using sensors such as infrared (IR) or ultrasonic detectors to sense motion or hand gestures.</a:t>
            </a:r>
            <a:endParaRPr lang="en-IN" dirty="0"/>
          </a:p>
          <a:p>
            <a:endParaRPr lang="en-IN" sz="1800" b="1" i="1" dirty="0">
              <a:solidFill>
                <a:srgbClr val="4F81BD"/>
              </a:solidFill>
              <a:effectLst/>
              <a:highlight>
                <a:srgbClr val="000000"/>
              </a:highlight>
              <a:latin typeface="Cambria" panose="02040503050406030204" pitchFamily="18" charset="0"/>
              <a:ea typeface="Times New Roman" panose="02020603050405020304" pitchFamily="18" charset="0"/>
              <a:cs typeface="Mangal" panose="02040503050203030202" pitchFamily="18" charset="0"/>
            </a:endParaRPr>
          </a:p>
          <a:p>
            <a:endParaRPr lang="en-IN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br>
              <a:rPr lang="en-US" dirty="0"/>
            </a:br>
            <a:r>
              <a:rPr lang="en-IN" dirty="0"/>
              <a:t>OBJECTIVES</a:t>
            </a:r>
            <a:endParaRPr lang="zh-CN" altLang="en-US"/>
          </a:p>
        </p:txBody>
      </p:sp>
      <p:sp>
        <p:nvSpPr>
          <p:cNvPr id="1048597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b="1" dirty="0"/>
              <a:t>Enhance Convenience</a:t>
            </a:r>
            <a:r>
              <a:rPr lang="en-US" dirty="0"/>
              <a:t>: They offer hands-free operation, which is useful for visitors carrying items or for those who might otherwise struggle to find or reach a traditional button.</a:t>
            </a:r>
          </a:p>
          <a:p>
            <a:r>
              <a:rPr lang="en-US" b="1" dirty="0"/>
              <a:t>Improve Accessibility</a:t>
            </a:r>
            <a:r>
              <a:rPr lang="en-US" dirty="0"/>
              <a:t>: Touchless systems benefit individuals with limited mobility, disabilities, or the elderly for whom reaching or pressing a traditional doorbell may be a challenge.</a:t>
            </a:r>
          </a:p>
          <a:p>
            <a:r>
              <a:rPr lang="en-US" b="1" dirty="0"/>
              <a:t>Integrate with Smart Home Technology</a:t>
            </a:r>
            <a:r>
              <a:rPr lang="en-US" dirty="0"/>
              <a:t>: New systems often aim to seamlessly integrate with smart home ecosystems, enabling features like smartphone notifications, video surveillance, remote communication with visitors, and even automatic door unlocking.</a:t>
            </a:r>
          </a:p>
          <a:p>
            <a:r>
              <a:rPr lang="en-US" b="1" dirty="0"/>
              <a:t>Increase Security</a:t>
            </a:r>
            <a:r>
              <a:rPr lang="en-US" dirty="0"/>
              <a:t>: By incorporating advanced features like motion detection, video cameras, facial recognition, and remote alerts, the systems enhance home security by allowing residents to screen visitors before opening the door.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4" name="Title 1"/>
          <p:cNvSpPr>
            <a:spLocks noGrp="1"/>
          </p:cNvSpPr>
          <p:nvPr>
            <p:ph type="title"/>
          </p:nvPr>
        </p:nvSpPr>
        <p:spPr>
          <a:xfrm>
            <a:off x="261257" y="755916"/>
            <a:ext cx="9012745" cy="833038"/>
          </a:xfrm>
        </p:spPr>
        <p:txBody>
          <a:bodyPr/>
          <a:lstStyle/>
          <a:p>
            <a:r>
              <a:rPr lang="en-IN" dirty="0"/>
              <a:t>BLOCK DIAGRAM </a:t>
            </a:r>
          </a:p>
        </p:txBody>
      </p:sp>
      <p:sp>
        <p:nvSpPr>
          <p:cNvPr id="1048595" name="Content Placeholder 5"/>
          <p:cNvSpPr>
            <a:spLocks noGrp="1"/>
          </p:cNvSpPr>
          <p:nvPr>
            <p:ph idx="1"/>
          </p:nvPr>
        </p:nvSpPr>
        <p:spPr>
          <a:xfrm>
            <a:off x="677334" y="9620720"/>
            <a:ext cx="8596668" cy="49346"/>
          </a:xfrm>
        </p:spPr>
        <p:txBody>
          <a:bodyPr>
            <a:normAutofit fontScale="25000" lnSpcReduction="20000"/>
          </a:bodyPr>
          <a:lstStyle/>
          <a:p>
            <a:endParaRPr lang="en-IN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65ACC69-A2FD-FA01-5710-0B44020ECE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6143" y="1491538"/>
            <a:ext cx="5464013" cy="350831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8" name="Title 1"/>
          <p:cNvSpPr>
            <a:spLocks noGrp="1"/>
          </p:cNvSpPr>
          <p:nvPr>
            <p:ph type="title"/>
          </p:nvPr>
        </p:nvSpPr>
        <p:spPr>
          <a:xfrm>
            <a:off x="677334" y="447869"/>
            <a:ext cx="8596668" cy="942392"/>
          </a:xfrm>
        </p:spPr>
        <p:txBody>
          <a:bodyPr>
            <a:normAutofit/>
          </a:bodyPr>
          <a:lstStyle/>
          <a:p>
            <a:r>
              <a:rPr lang="en-IN" dirty="0"/>
              <a:t>WORKING  </a:t>
            </a:r>
          </a:p>
        </p:txBody>
      </p:sp>
      <p:sp>
        <p:nvSpPr>
          <p:cNvPr id="1048599" name="Content Placeholder 2"/>
          <p:cNvSpPr>
            <a:spLocks noGrp="1"/>
          </p:cNvSpPr>
          <p:nvPr>
            <p:ph idx="1"/>
          </p:nvPr>
        </p:nvSpPr>
        <p:spPr>
          <a:xfrm>
            <a:off x="811762" y="1548883"/>
            <a:ext cx="8259039" cy="355496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This system uses an infrared transceiver pair and basic components to sense objects and activate the bell when someone stands at the door.</a:t>
            </a:r>
          </a:p>
          <a:p>
            <a:pPr marL="0" indent="0">
              <a:buNone/>
            </a:pPr>
            <a:r>
              <a:rPr lang="en-US" dirty="0"/>
              <a:t> It creates an object-sensing, contactless alternative for ringing doorbells, enhancing both convenience and hygiene.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COMPONENT </a:t>
            </a:r>
          </a:p>
        </p:txBody>
      </p:sp>
      <p:sp>
        <p:nvSpPr>
          <p:cNvPr id="1048603" name="Content Placeholder 2"/>
          <p:cNvSpPr>
            <a:spLocks noGrp="1"/>
          </p:cNvSpPr>
          <p:nvPr>
            <p:ph idx="1"/>
          </p:nvPr>
        </p:nvSpPr>
        <p:spPr>
          <a:xfrm>
            <a:off x="677334" y="1838325"/>
            <a:ext cx="8596668" cy="4203037"/>
          </a:xfrm>
        </p:spPr>
        <p:txBody>
          <a:bodyPr>
            <a:normAutofit/>
          </a:bodyPr>
          <a:lstStyle/>
          <a:p>
            <a:r>
              <a:rPr lang="en-IN" dirty="0"/>
              <a:t>9v battery </a:t>
            </a:r>
          </a:p>
          <a:p>
            <a:r>
              <a:rPr lang="en-IN" dirty="0"/>
              <a:t>Buzzer</a:t>
            </a:r>
          </a:p>
          <a:p>
            <a:r>
              <a:rPr lang="en-IN" dirty="0"/>
              <a:t>LM358</a:t>
            </a:r>
          </a:p>
          <a:p>
            <a:r>
              <a:rPr lang="en-US" altLang="en-US" dirty="0"/>
              <a:t>10K variable Resistor </a:t>
            </a:r>
          </a:p>
          <a:p>
            <a:r>
              <a:rPr lang="en-IN" altLang="zh-CN" dirty="0"/>
              <a:t>IR Rx Tx</a:t>
            </a:r>
          </a:p>
          <a:p>
            <a:r>
              <a:rPr lang="en-IN" altLang="zh-CN" dirty="0"/>
              <a:t>Led</a:t>
            </a:r>
          </a:p>
          <a:p>
            <a:r>
              <a:rPr lang="en-IN" altLang="zh-CN" dirty="0"/>
              <a:t>Zero PCB</a:t>
            </a:r>
          </a:p>
          <a:p>
            <a:r>
              <a:rPr lang="en-IN" altLang="zh-CN" dirty="0"/>
              <a:t>Resistor</a:t>
            </a:r>
            <a:endParaRPr lang="zh-CN" altLang="en-US" dirty="0"/>
          </a:p>
          <a:p>
            <a:endParaRPr lang="en-IN" dirty="0"/>
          </a:p>
          <a:p>
            <a:endParaRPr lang="en-IN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5" name="Title 1"/>
          <p:cNvSpPr>
            <a:spLocks noGrp="1"/>
          </p:cNvSpPr>
          <p:nvPr>
            <p:ph type="title"/>
          </p:nvPr>
        </p:nvSpPr>
        <p:spPr>
          <a:xfrm>
            <a:off x="677334" y="242277"/>
            <a:ext cx="8596668" cy="1273908"/>
          </a:xfrm>
        </p:spPr>
        <p:txBody>
          <a:bodyPr/>
          <a:lstStyle/>
          <a:p>
            <a:br>
              <a:rPr lang="en-US" dirty="0"/>
            </a:br>
            <a:r>
              <a:rPr lang="en-US" dirty="0"/>
              <a:t>A</a:t>
            </a:r>
            <a:r>
              <a:rPr lang="en-IN" dirty="0"/>
              <a:t>DVANTAGES </a:t>
            </a:r>
            <a:endParaRPr lang="zh-CN" altLang="en-US" dirty="0"/>
          </a:p>
        </p:txBody>
      </p:sp>
      <p:sp>
        <p:nvSpPr>
          <p:cNvPr id="1048626" name="Content Placeholder 2"/>
          <p:cNvSpPr>
            <a:spLocks noGrp="1"/>
          </p:cNvSpPr>
          <p:nvPr>
            <p:ph idx="1"/>
          </p:nvPr>
        </p:nvSpPr>
        <p:spPr>
          <a:xfrm>
            <a:off x="294380" y="1754155"/>
            <a:ext cx="9287282" cy="4385388"/>
          </a:xfrm>
        </p:spPr>
        <p:txBody>
          <a:bodyPr>
            <a:normAutofit/>
          </a:bodyPr>
          <a:lstStyle/>
          <a:p>
            <a:pPr lvl="0">
              <a:lnSpc>
                <a:spcPct val="110000"/>
              </a:lnSpc>
              <a:spcAft>
                <a:spcPts val="1000"/>
              </a:spcAft>
              <a:buFont typeface="Wingdings" panose="05000000000000000000" pitchFamily="2" charset="2"/>
              <a:buChar char="Ø"/>
              <a:tabLst>
                <a:tab pos="457200" algn="l"/>
              </a:tabLst>
            </a:pPr>
            <a:r>
              <a:rPr lang="en-US" dirty="0"/>
              <a:t>Hygienic and Safe: No physical contact is needed, reducing the spread of germs and viruses. </a:t>
            </a:r>
          </a:p>
          <a:p>
            <a:pPr lvl="0">
              <a:lnSpc>
                <a:spcPct val="110000"/>
              </a:lnSpc>
              <a:spcAft>
                <a:spcPts val="1000"/>
              </a:spcAft>
              <a:buFont typeface="Wingdings" panose="05000000000000000000" pitchFamily="2" charset="2"/>
              <a:buChar char="Ø"/>
              <a:tabLst>
                <a:tab pos="457200" algn="l"/>
              </a:tabLst>
            </a:pPr>
            <a:r>
              <a:rPr lang="en-US" dirty="0"/>
              <a:t>Convenient Operation: Visitors can ring the bell just by waving their hand — quick and easy to use. </a:t>
            </a:r>
          </a:p>
          <a:p>
            <a:pPr lvl="0">
              <a:lnSpc>
                <a:spcPct val="110000"/>
              </a:lnSpc>
              <a:spcAft>
                <a:spcPts val="1000"/>
              </a:spcAft>
              <a:buFont typeface="Wingdings" panose="05000000000000000000" pitchFamily="2" charset="2"/>
              <a:buChar char="Ø"/>
              <a:tabLst>
                <a:tab pos="457200" algn="l"/>
              </a:tabLst>
            </a:pPr>
            <a:r>
              <a:rPr lang="en-US" dirty="0"/>
              <a:t>Energy Efficient: Many touchless doorbells use low power or motion sensors that consume very little energy. </a:t>
            </a:r>
          </a:p>
          <a:p>
            <a:pPr lvl="0">
              <a:lnSpc>
                <a:spcPct val="110000"/>
              </a:lnSpc>
              <a:spcAft>
                <a:spcPts val="1000"/>
              </a:spcAft>
              <a:buFont typeface="Wingdings" panose="05000000000000000000" pitchFamily="2" charset="2"/>
              <a:buChar char="Ø"/>
              <a:tabLst>
                <a:tab pos="457200" algn="l"/>
              </a:tabLst>
            </a:pPr>
            <a:r>
              <a:rPr lang="en-US" dirty="0"/>
              <a:t>Modern and Smart Look: Gives a stylish, modern appearance to homes or offices. </a:t>
            </a:r>
          </a:p>
          <a:p>
            <a:pPr lvl="0">
              <a:lnSpc>
                <a:spcPct val="110000"/>
              </a:lnSpc>
              <a:spcAft>
                <a:spcPts val="1000"/>
              </a:spcAft>
              <a:buFont typeface="Wingdings" panose="05000000000000000000" pitchFamily="2" charset="2"/>
              <a:buChar char="Ø"/>
              <a:tabLst>
                <a:tab pos="457200" algn="l"/>
              </a:tabLst>
            </a:pPr>
            <a:r>
              <a:rPr lang="en-US" dirty="0"/>
              <a:t>Integration with Smart Devices: Can be connected to smartphones or smart home systems for notifications and video streaming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7" name="Title 1"/>
          <p:cNvSpPr>
            <a:spLocks noGrp="1"/>
          </p:cNvSpPr>
          <p:nvPr>
            <p:ph type="title"/>
          </p:nvPr>
        </p:nvSpPr>
        <p:spPr>
          <a:xfrm>
            <a:off x="263119" y="429846"/>
            <a:ext cx="8596668" cy="638909"/>
          </a:xfrm>
        </p:spPr>
        <p:txBody>
          <a:bodyPr>
            <a:normAutofit fontScale="90000"/>
          </a:bodyPr>
          <a:lstStyle/>
          <a:p>
            <a:r>
              <a:rPr lang="en-IN" dirty="0"/>
              <a:t>APPLICATION </a:t>
            </a:r>
          </a:p>
        </p:txBody>
      </p:sp>
      <p:sp>
        <p:nvSpPr>
          <p:cNvPr id="1048628" name="Content Placeholder 2"/>
          <p:cNvSpPr>
            <a:spLocks noGrp="1"/>
          </p:cNvSpPr>
          <p:nvPr>
            <p:ph idx="1"/>
          </p:nvPr>
        </p:nvSpPr>
        <p:spPr>
          <a:xfrm>
            <a:off x="263119" y="1126933"/>
            <a:ext cx="8596668" cy="3880773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endParaRPr lang="en-IN" dirty="0"/>
          </a:p>
          <a:p>
            <a:pPr lvl="0">
              <a:lnSpc>
                <a:spcPct val="115000"/>
              </a:lnSpc>
              <a:spcAft>
                <a:spcPts val="1000"/>
              </a:spcAft>
              <a:buSzPts val="1000"/>
              <a:buFont typeface="Wingdings" panose="05000000000000000000" pitchFamily="2" charset="2"/>
              <a:buChar char="Ø"/>
              <a:tabLst>
                <a:tab pos="457200" algn="l"/>
              </a:tabLst>
            </a:pPr>
            <a:r>
              <a:rPr lang="en-US" dirty="0"/>
              <a:t>Residential Homes: Used at the main door to provide hygienic and convenient visitor alerts.</a:t>
            </a:r>
          </a:p>
          <a:p>
            <a:pPr lvl="0">
              <a:lnSpc>
                <a:spcPct val="115000"/>
              </a:lnSpc>
              <a:spcAft>
                <a:spcPts val="1000"/>
              </a:spcAft>
              <a:buSzPts val="1000"/>
              <a:buFont typeface="Wingdings" panose="05000000000000000000" pitchFamily="2" charset="2"/>
              <a:buChar char="Ø"/>
              <a:tabLst>
                <a:tab pos="457200" algn="l"/>
              </a:tabLst>
            </a:pPr>
            <a:r>
              <a:rPr lang="en-US" dirty="0"/>
              <a:t>Offices and Commercial Buildings: Ensures contactless entry for employees and visitors. </a:t>
            </a:r>
          </a:p>
          <a:p>
            <a:pPr lvl="0">
              <a:lnSpc>
                <a:spcPct val="115000"/>
              </a:lnSpc>
              <a:spcAft>
                <a:spcPts val="1000"/>
              </a:spcAft>
              <a:buSzPts val="1000"/>
              <a:buFont typeface="Wingdings" panose="05000000000000000000" pitchFamily="2" charset="2"/>
              <a:buChar char="Ø"/>
              <a:tabLst>
                <a:tab pos="457200" algn="l"/>
              </a:tabLst>
            </a:pPr>
            <a:r>
              <a:rPr lang="en-US" dirty="0"/>
              <a:t>Hospitals and Clinics: Helps maintain hygiene and prevent infection spread.</a:t>
            </a:r>
          </a:p>
          <a:p>
            <a:pPr lvl="0">
              <a:lnSpc>
                <a:spcPct val="115000"/>
              </a:lnSpc>
              <a:spcAft>
                <a:spcPts val="1000"/>
              </a:spcAft>
              <a:buSzPts val="1000"/>
              <a:buFont typeface="Wingdings" panose="05000000000000000000" pitchFamily="2" charset="2"/>
              <a:buChar char="Ø"/>
              <a:tabLst>
                <a:tab pos="457200" algn="l"/>
              </a:tabLst>
            </a:pPr>
            <a:r>
              <a:rPr lang="en-US" dirty="0"/>
              <a:t> Schools and Colleges: Used at main gates or staff rooms for touch-free operation. </a:t>
            </a:r>
          </a:p>
          <a:p>
            <a:pPr lvl="0">
              <a:lnSpc>
                <a:spcPct val="115000"/>
              </a:lnSpc>
              <a:spcAft>
                <a:spcPts val="1000"/>
              </a:spcAft>
              <a:buSzPts val="1000"/>
              <a:buFont typeface="Wingdings" panose="05000000000000000000" pitchFamily="2" charset="2"/>
              <a:buChar char="Ø"/>
              <a:tabLst>
                <a:tab pos="457200" algn="l"/>
              </a:tabLst>
            </a:pPr>
            <a:r>
              <a:rPr lang="en-US" dirty="0"/>
              <a:t>Hotels and Restaurants: Enhances customer experience with modern, hygienic door systems. </a:t>
            </a:r>
            <a:endParaRPr lang="en-IN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REFERENCES </a:t>
            </a:r>
          </a:p>
        </p:txBody>
      </p:sp>
      <p:sp>
        <p:nvSpPr>
          <p:cNvPr id="1048630" name="Content Placeholder 2"/>
          <p:cNvSpPr>
            <a:spLocks noGrp="1"/>
          </p:cNvSpPr>
          <p:nvPr>
            <p:ph idx="1"/>
          </p:nvPr>
        </p:nvSpPr>
        <p:spPr>
          <a:xfrm>
            <a:off x="905068" y="1530220"/>
            <a:ext cx="8251437" cy="3872204"/>
          </a:xfrm>
        </p:spPr>
        <p:txBody>
          <a:bodyPr/>
          <a:lstStyle/>
          <a:p>
            <a:r>
              <a:rPr lang="en-IN" dirty="0">
                <a:hlinkClick r:id="rId2"/>
              </a:rPr>
              <a:t>https://youtube.com/shorts/I964cbLAfAM?si=bR2VGQixXDRnIHKw</a:t>
            </a:r>
            <a:endParaRPr lang="en-IN" dirty="0"/>
          </a:p>
          <a:p>
            <a:r>
              <a:rPr lang="en-IN" dirty="0">
                <a:hlinkClick r:id="rId3"/>
              </a:rPr>
              <a:t>https://youtube.com/shorts/yIQmBMLl_b0?si=Sh4FrdXk-qwLjW-g</a:t>
            </a:r>
            <a:endParaRPr lang="en-IN" dirty="0"/>
          </a:p>
          <a:p>
            <a:r>
              <a:rPr lang="en-IN" dirty="0">
                <a:hlinkClick r:id="rId4"/>
              </a:rPr>
              <a:t>https://youtu.be/A-WQ8ikMZUQ?si=V7_NcfzIrMuobEVn</a:t>
            </a:r>
            <a:endParaRPr lang="en-IN" dirty="0"/>
          </a:p>
          <a:p>
            <a:r>
              <a:rPr lang="en-IN" dirty="0">
                <a:hlinkClick r:id="rId5"/>
              </a:rPr>
              <a:t>https://youtu.be/Vgsb9PGus9Q?si=K-cruh3sCuDLRqCk</a:t>
            </a:r>
            <a:endParaRPr lang="en-IN" dirty="0"/>
          </a:p>
          <a:p>
            <a:endParaRPr lang="en-IN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1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endParaRPr lang="en-IN" sz="6000" dirty="0"/>
          </a:p>
          <a:p>
            <a:pPr marL="0" indent="0" algn="ctr">
              <a:buNone/>
            </a:pPr>
            <a:r>
              <a:rPr lang="en-IN" sz="6000" dirty="0"/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TH Sarabun PSK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TH Sarabun PSK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100</TotalTime>
  <Words>636</Words>
  <Application>Microsoft Office PowerPoint</Application>
  <PresentationFormat>Widescreen</PresentationFormat>
  <Paragraphs>64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20" baseType="lpstr">
      <vt:lpstr>Arial</vt:lpstr>
      <vt:lpstr>Calibri</vt:lpstr>
      <vt:lpstr>Cambria</vt:lpstr>
      <vt:lpstr>Times New Roman</vt:lpstr>
      <vt:lpstr>Trebuchet MS</vt:lpstr>
      <vt:lpstr>Wingdings</vt:lpstr>
      <vt:lpstr>Wingdings 3</vt:lpstr>
      <vt:lpstr>Facet</vt:lpstr>
      <vt:lpstr>DEPARTMENT OF ELECTRICAL  ENGG</vt:lpstr>
      <vt:lpstr> INDEX</vt:lpstr>
      <vt:lpstr>ABSTRACT</vt:lpstr>
      <vt:lpstr> INTRODUCTION </vt:lpstr>
      <vt:lpstr> OBJECTIVES</vt:lpstr>
      <vt:lpstr>BLOCK DIAGRAM </vt:lpstr>
      <vt:lpstr>WORKING  </vt:lpstr>
      <vt:lpstr>COMPONENT </vt:lpstr>
      <vt:lpstr> ADVANTAGES </vt:lpstr>
      <vt:lpstr>APPLICATION </vt:lpstr>
      <vt:lpstr>REFERENCES 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DEPARTMENT OF ELECTRICAL  ENGG</dc:title>
  <dc:creator>HP</dc:creator>
  <cp:lastModifiedBy>ADISH BODKHE</cp:lastModifiedBy>
  <cp:revision>8</cp:revision>
  <dcterms:created xsi:type="dcterms:W3CDTF">2024-10-18T16:25:09Z</dcterms:created>
  <dcterms:modified xsi:type="dcterms:W3CDTF">2025-11-04T03:31:37Z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664acd99f9854e5c9816b70d1d085abd</vt:lpwstr>
  </property>
</Properties>
</file>